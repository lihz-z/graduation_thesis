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5DBB"/>
    <a:srgbClr val="F1F1F1"/>
    <a:srgbClr val="DAEDFD"/>
    <a:srgbClr val="0943AF"/>
    <a:srgbClr val="E6AD00"/>
    <a:srgbClr val="92D050"/>
    <a:srgbClr val="FFC514"/>
    <a:srgbClr val="F5B183"/>
    <a:srgbClr val="C69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02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7" Type="http://schemas.openxmlformats.org/officeDocument/2006/relationships/slideLayout" Target="../slideLayouts/slideLayout1.xml"/><Relationship Id="rId76" Type="http://schemas.openxmlformats.org/officeDocument/2006/relationships/tags" Target="../tags/tag58.xml"/><Relationship Id="rId75" Type="http://schemas.openxmlformats.org/officeDocument/2006/relationships/image" Target="../media/image18.png"/><Relationship Id="rId74" Type="http://schemas.openxmlformats.org/officeDocument/2006/relationships/tags" Target="../tags/tag57.xml"/><Relationship Id="rId73" Type="http://schemas.openxmlformats.org/officeDocument/2006/relationships/tags" Target="../tags/tag56.xml"/><Relationship Id="rId72" Type="http://schemas.openxmlformats.org/officeDocument/2006/relationships/tags" Target="../tags/tag55.xml"/><Relationship Id="rId71" Type="http://schemas.openxmlformats.org/officeDocument/2006/relationships/tags" Target="../tags/tag54.xml"/><Relationship Id="rId70" Type="http://schemas.openxmlformats.org/officeDocument/2006/relationships/image" Target="../media/image17.png"/><Relationship Id="rId7" Type="http://schemas.openxmlformats.org/officeDocument/2006/relationships/image" Target="../media/image2.png"/><Relationship Id="rId69" Type="http://schemas.openxmlformats.org/officeDocument/2006/relationships/tags" Target="../tags/tag53.xml"/><Relationship Id="rId68" Type="http://schemas.openxmlformats.org/officeDocument/2006/relationships/tags" Target="../tags/tag52.xml"/><Relationship Id="rId67" Type="http://schemas.openxmlformats.org/officeDocument/2006/relationships/tags" Target="../tags/tag51.xml"/><Relationship Id="rId66" Type="http://schemas.openxmlformats.org/officeDocument/2006/relationships/tags" Target="../tags/tag50.xml"/><Relationship Id="rId65" Type="http://schemas.openxmlformats.org/officeDocument/2006/relationships/tags" Target="../tags/tag49.xml"/><Relationship Id="rId64" Type="http://schemas.openxmlformats.org/officeDocument/2006/relationships/tags" Target="../tags/tag48.xml"/><Relationship Id="rId63" Type="http://schemas.openxmlformats.org/officeDocument/2006/relationships/tags" Target="../tags/tag47.xml"/><Relationship Id="rId62" Type="http://schemas.openxmlformats.org/officeDocument/2006/relationships/tags" Target="../tags/tag46.xml"/><Relationship Id="rId61" Type="http://schemas.openxmlformats.org/officeDocument/2006/relationships/tags" Target="../tags/tag45.xml"/><Relationship Id="rId60" Type="http://schemas.openxmlformats.org/officeDocument/2006/relationships/tags" Target="../tags/tag44.xml"/><Relationship Id="rId6" Type="http://schemas.openxmlformats.org/officeDocument/2006/relationships/tags" Target="../tags/tag5.xml"/><Relationship Id="rId59" Type="http://schemas.openxmlformats.org/officeDocument/2006/relationships/tags" Target="../tags/tag43.xml"/><Relationship Id="rId58" Type="http://schemas.openxmlformats.org/officeDocument/2006/relationships/tags" Target="../tags/tag42.xml"/><Relationship Id="rId57" Type="http://schemas.openxmlformats.org/officeDocument/2006/relationships/tags" Target="../tags/tag41.xml"/><Relationship Id="rId56" Type="http://schemas.openxmlformats.org/officeDocument/2006/relationships/tags" Target="../tags/tag40.xml"/><Relationship Id="rId55" Type="http://schemas.openxmlformats.org/officeDocument/2006/relationships/tags" Target="../tags/tag39.xml"/><Relationship Id="rId54" Type="http://schemas.openxmlformats.org/officeDocument/2006/relationships/tags" Target="../tags/tag38.xml"/><Relationship Id="rId53" Type="http://schemas.openxmlformats.org/officeDocument/2006/relationships/image" Target="../media/image16.png"/><Relationship Id="rId52" Type="http://schemas.openxmlformats.org/officeDocument/2006/relationships/tags" Target="../tags/tag37.xml"/><Relationship Id="rId51" Type="http://schemas.openxmlformats.org/officeDocument/2006/relationships/tags" Target="../tags/tag36.xml"/><Relationship Id="rId50" Type="http://schemas.openxmlformats.org/officeDocument/2006/relationships/image" Target="../media/image15.png"/><Relationship Id="rId5" Type="http://schemas.openxmlformats.org/officeDocument/2006/relationships/tags" Target="../tags/tag4.xml"/><Relationship Id="rId49" Type="http://schemas.openxmlformats.org/officeDocument/2006/relationships/tags" Target="../tags/tag35.xml"/><Relationship Id="rId48" Type="http://schemas.openxmlformats.org/officeDocument/2006/relationships/tags" Target="../tags/tag34.xml"/><Relationship Id="rId47" Type="http://schemas.openxmlformats.org/officeDocument/2006/relationships/image" Target="../media/image14.png"/><Relationship Id="rId46" Type="http://schemas.openxmlformats.org/officeDocument/2006/relationships/tags" Target="../tags/tag33.xml"/><Relationship Id="rId45" Type="http://schemas.openxmlformats.org/officeDocument/2006/relationships/tags" Target="../tags/tag32.xml"/><Relationship Id="rId44" Type="http://schemas.openxmlformats.org/officeDocument/2006/relationships/image" Target="../media/image13.png"/><Relationship Id="rId43" Type="http://schemas.openxmlformats.org/officeDocument/2006/relationships/tags" Target="../tags/tag31.xml"/><Relationship Id="rId42" Type="http://schemas.openxmlformats.org/officeDocument/2006/relationships/tags" Target="../tags/tag30.xml"/><Relationship Id="rId41" Type="http://schemas.openxmlformats.org/officeDocument/2006/relationships/image" Target="../media/image12.png"/><Relationship Id="rId40" Type="http://schemas.openxmlformats.org/officeDocument/2006/relationships/tags" Target="../tags/tag29.xml"/><Relationship Id="rId4" Type="http://schemas.openxmlformats.org/officeDocument/2006/relationships/tags" Target="../tags/tag3.xml"/><Relationship Id="rId39" Type="http://schemas.openxmlformats.org/officeDocument/2006/relationships/tags" Target="../tags/tag28.xml"/><Relationship Id="rId38" Type="http://schemas.openxmlformats.org/officeDocument/2006/relationships/image" Target="../media/image11.png"/><Relationship Id="rId37" Type="http://schemas.openxmlformats.org/officeDocument/2006/relationships/tags" Target="../tags/tag27.xml"/><Relationship Id="rId36" Type="http://schemas.openxmlformats.org/officeDocument/2006/relationships/tags" Target="../tags/tag26.xml"/><Relationship Id="rId35" Type="http://schemas.openxmlformats.org/officeDocument/2006/relationships/image" Target="../media/image10.png"/><Relationship Id="rId34" Type="http://schemas.openxmlformats.org/officeDocument/2006/relationships/tags" Target="../tags/tag25.xml"/><Relationship Id="rId33" Type="http://schemas.openxmlformats.org/officeDocument/2006/relationships/tags" Target="../tags/tag24.xml"/><Relationship Id="rId32" Type="http://schemas.openxmlformats.org/officeDocument/2006/relationships/image" Target="../media/image9.png"/><Relationship Id="rId31" Type="http://schemas.openxmlformats.org/officeDocument/2006/relationships/tags" Target="../tags/tag23.xml"/><Relationship Id="rId30" Type="http://schemas.openxmlformats.org/officeDocument/2006/relationships/tags" Target="../tags/tag22.xml"/><Relationship Id="rId3" Type="http://schemas.openxmlformats.org/officeDocument/2006/relationships/tags" Target="../tags/tag2.xml"/><Relationship Id="rId29" Type="http://schemas.openxmlformats.org/officeDocument/2006/relationships/tags" Target="../tags/tag21.xml"/><Relationship Id="rId28" Type="http://schemas.openxmlformats.org/officeDocument/2006/relationships/image" Target="../media/image8.png"/><Relationship Id="rId27" Type="http://schemas.openxmlformats.org/officeDocument/2006/relationships/tags" Target="../tags/tag20.xml"/><Relationship Id="rId26" Type="http://schemas.openxmlformats.org/officeDocument/2006/relationships/tags" Target="../tags/tag19.xml"/><Relationship Id="rId25" Type="http://schemas.openxmlformats.org/officeDocument/2006/relationships/tags" Target="../tags/tag18.xml"/><Relationship Id="rId24" Type="http://schemas.openxmlformats.org/officeDocument/2006/relationships/tags" Target="../tags/tag17.xml"/><Relationship Id="rId23" Type="http://schemas.openxmlformats.org/officeDocument/2006/relationships/tags" Target="../tags/tag16.xml"/><Relationship Id="rId22" Type="http://schemas.openxmlformats.org/officeDocument/2006/relationships/tags" Target="../tags/tag15.xml"/><Relationship Id="rId21" Type="http://schemas.openxmlformats.org/officeDocument/2006/relationships/image" Target="../media/image7.png"/><Relationship Id="rId20" Type="http://schemas.openxmlformats.org/officeDocument/2006/relationships/tags" Target="../tags/tag14.xml"/><Relationship Id="rId2" Type="http://schemas.openxmlformats.org/officeDocument/2006/relationships/tags" Target="../tags/tag1.xml"/><Relationship Id="rId19" Type="http://schemas.openxmlformats.org/officeDocument/2006/relationships/tags" Target="../tags/tag13.xml"/><Relationship Id="rId18" Type="http://schemas.openxmlformats.org/officeDocument/2006/relationships/image" Target="../media/image6.png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image" Target="../media/image5.png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2.png"/><Relationship Id="rId71" Type="http://schemas.openxmlformats.org/officeDocument/2006/relationships/slideLayout" Target="../slideLayouts/slideLayout2.xml"/><Relationship Id="rId70" Type="http://schemas.openxmlformats.org/officeDocument/2006/relationships/image" Target="../media/image14.png"/><Relationship Id="rId7" Type="http://schemas.openxmlformats.org/officeDocument/2006/relationships/tags" Target="../tags/tag64.xml"/><Relationship Id="rId69" Type="http://schemas.openxmlformats.org/officeDocument/2006/relationships/tags" Target="../tags/tag114.xml"/><Relationship Id="rId68" Type="http://schemas.openxmlformats.org/officeDocument/2006/relationships/tags" Target="../tags/tag113.xml"/><Relationship Id="rId67" Type="http://schemas.openxmlformats.org/officeDocument/2006/relationships/tags" Target="../tags/tag112.xml"/><Relationship Id="rId66" Type="http://schemas.openxmlformats.org/officeDocument/2006/relationships/tags" Target="../tags/tag111.xml"/><Relationship Id="rId65" Type="http://schemas.openxmlformats.org/officeDocument/2006/relationships/image" Target="../media/image13.png"/><Relationship Id="rId64" Type="http://schemas.openxmlformats.org/officeDocument/2006/relationships/tags" Target="../tags/tag110.xml"/><Relationship Id="rId63" Type="http://schemas.openxmlformats.org/officeDocument/2006/relationships/tags" Target="../tags/tag109.xml"/><Relationship Id="rId62" Type="http://schemas.openxmlformats.org/officeDocument/2006/relationships/tags" Target="../tags/tag108.xml"/><Relationship Id="rId61" Type="http://schemas.openxmlformats.org/officeDocument/2006/relationships/tags" Target="../tags/tag107.xml"/><Relationship Id="rId60" Type="http://schemas.openxmlformats.org/officeDocument/2006/relationships/tags" Target="../tags/tag106.xml"/><Relationship Id="rId6" Type="http://schemas.openxmlformats.org/officeDocument/2006/relationships/tags" Target="../tags/tag63.xml"/><Relationship Id="rId59" Type="http://schemas.openxmlformats.org/officeDocument/2006/relationships/tags" Target="../tags/tag105.xml"/><Relationship Id="rId58" Type="http://schemas.openxmlformats.org/officeDocument/2006/relationships/tags" Target="../tags/tag104.xml"/><Relationship Id="rId57" Type="http://schemas.openxmlformats.org/officeDocument/2006/relationships/tags" Target="../tags/tag103.xml"/><Relationship Id="rId56" Type="http://schemas.openxmlformats.org/officeDocument/2006/relationships/tags" Target="../tags/tag102.xml"/><Relationship Id="rId55" Type="http://schemas.openxmlformats.org/officeDocument/2006/relationships/tags" Target="../tags/tag101.xml"/><Relationship Id="rId54" Type="http://schemas.openxmlformats.org/officeDocument/2006/relationships/tags" Target="../tags/tag100.xml"/><Relationship Id="rId53" Type="http://schemas.openxmlformats.org/officeDocument/2006/relationships/tags" Target="../tags/tag99.xml"/><Relationship Id="rId52" Type="http://schemas.openxmlformats.org/officeDocument/2006/relationships/tags" Target="../tags/tag98.xml"/><Relationship Id="rId51" Type="http://schemas.openxmlformats.org/officeDocument/2006/relationships/image" Target="../media/image12.png"/><Relationship Id="rId50" Type="http://schemas.openxmlformats.org/officeDocument/2006/relationships/tags" Target="../tags/tag97.xml"/><Relationship Id="rId5" Type="http://schemas.openxmlformats.org/officeDocument/2006/relationships/tags" Target="../tags/tag62.xml"/><Relationship Id="rId49" Type="http://schemas.openxmlformats.org/officeDocument/2006/relationships/tags" Target="../tags/tag96.xml"/><Relationship Id="rId48" Type="http://schemas.openxmlformats.org/officeDocument/2006/relationships/image" Target="../media/image11.png"/><Relationship Id="rId47" Type="http://schemas.openxmlformats.org/officeDocument/2006/relationships/tags" Target="../tags/tag95.xml"/><Relationship Id="rId46" Type="http://schemas.openxmlformats.org/officeDocument/2006/relationships/tags" Target="../tags/tag94.xml"/><Relationship Id="rId45" Type="http://schemas.openxmlformats.org/officeDocument/2006/relationships/image" Target="../media/image10.png"/><Relationship Id="rId44" Type="http://schemas.openxmlformats.org/officeDocument/2006/relationships/tags" Target="../tags/tag93.xml"/><Relationship Id="rId43" Type="http://schemas.openxmlformats.org/officeDocument/2006/relationships/tags" Target="../tags/tag92.xml"/><Relationship Id="rId42" Type="http://schemas.openxmlformats.org/officeDocument/2006/relationships/tags" Target="../tags/tag91.xml"/><Relationship Id="rId41" Type="http://schemas.openxmlformats.org/officeDocument/2006/relationships/tags" Target="../tags/tag90.xml"/><Relationship Id="rId40" Type="http://schemas.openxmlformats.org/officeDocument/2006/relationships/tags" Target="../tags/tag89.xml"/><Relationship Id="rId4" Type="http://schemas.openxmlformats.org/officeDocument/2006/relationships/tags" Target="../tags/tag61.xml"/><Relationship Id="rId39" Type="http://schemas.openxmlformats.org/officeDocument/2006/relationships/tags" Target="../tags/tag88.xml"/><Relationship Id="rId38" Type="http://schemas.openxmlformats.org/officeDocument/2006/relationships/image" Target="../media/image9.png"/><Relationship Id="rId37" Type="http://schemas.openxmlformats.org/officeDocument/2006/relationships/tags" Target="../tags/tag87.xml"/><Relationship Id="rId36" Type="http://schemas.openxmlformats.org/officeDocument/2006/relationships/tags" Target="../tags/tag86.xml"/><Relationship Id="rId35" Type="http://schemas.openxmlformats.org/officeDocument/2006/relationships/tags" Target="../tags/tag85.xml"/><Relationship Id="rId34" Type="http://schemas.openxmlformats.org/officeDocument/2006/relationships/image" Target="../media/image8.png"/><Relationship Id="rId33" Type="http://schemas.openxmlformats.org/officeDocument/2006/relationships/tags" Target="../tags/tag84.xml"/><Relationship Id="rId32" Type="http://schemas.openxmlformats.org/officeDocument/2006/relationships/tags" Target="../tags/tag83.xml"/><Relationship Id="rId31" Type="http://schemas.openxmlformats.org/officeDocument/2006/relationships/tags" Target="../tags/tag82.xml"/><Relationship Id="rId30" Type="http://schemas.openxmlformats.org/officeDocument/2006/relationships/tags" Target="../tags/tag81.xml"/><Relationship Id="rId3" Type="http://schemas.openxmlformats.org/officeDocument/2006/relationships/tags" Target="../tags/tag60.xml"/><Relationship Id="rId29" Type="http://schemas.openxmlformats.org/officeDocument/2006/relationships/tags" Target="../tags/tag80.xml"/><Relationship Id="rId28" Type="http://schemas.openxmlformats.org/officeDocument/2006/relationships/tags" Target="../tags/tag79.xml"/><Relationship Id="rId27" Type="http://schemas.openxmlformats.org/officeDocument/2006/relationships/tags" Target="../tags/tag78.xml"/><Relationship Id="rId26" Type="http://schemas.openxmlformats.org/officeDocument/2006/relationships/tags" Target="../tags/tag77.xml"/><Relationship Id="rId25" Type="http://schemas.openxmlformats.org/officeDocument/2006/relationships/tags" Target="../tags/tag76.xml"/><Relationship Id="rId24" Type="http://schemas.openxmlformats.org/officeDocument/2006/relationships/tags" Target="../tags/tag75.xml"/><Relationship Id="rId23" Type="http://schemas.openxmlformats.org/officeDocument/2006/relationships/tags" Target="../tags/tag74.xml"/><Relationship Id="rId22" Type="http://schemas.openxmlformats.org/officeDocument/2006/relationships/image" Target="../media/image7.png"/><Relationship Id="rId21" Type="http://schemas.openxmlformats.org/officeDocument/2006/relationships/tags" Target="../tags/tag73.xml"/><Relationship Id="rId20" Type="http://schemas.openxmlformats.org/officeDocument/2006/relationships/tags" Target="../tags/tag72.xml"/><Relationship Id="rId2" Type="http://schemas.openxmlformats.org/officeDocument/2006/relationships/image" Target="../media/image1.jpeg"/><Relationship Id="rId19" Type="http://schemas.openxmlformats.org/officeDocument/2006/relationships/image" Target="../media/image6.png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image" Target="../media/image5.png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image" Target="../media/image4.png"/><Relationship Id="rId1" Type="http://schemas.openxmlformats.org/officeDocument/2006/relationships/tags" Target="../tags/tag5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-3061335" y="-2180590"/>
            <a:ext cx="14889480" cy="8323580"/>
            <a:chOff x="-4821" y="-3434"/>
            <a:chExt cx="23448" cy="13108"/>
          </a:xfrm>
        </p:grpSpPr>
        <p:grpSp>
          <p:nvGrpSpPr>
            <p:cNvPr id="103" name="组合 102"/>
            <p:cNvGrpSpPr>
              <a:grpSpLocks noChangeAspect="1"/>
            </p:cNvGrpSpPr>
            <p:nvPr/>
          </p:nvGrpSpPr>
          <p:grpSpPr>
            <a:xfrm>
              <a:off x="-4821" y="-3434"/>
              <a:ext cx="23449" cy="8267"/>
              <a:chOff x="-14004" y="410"/>
              <a:chExt cx="23449" cy="8267"/>
            </a:xfrm>
          </p:grpSpPr>
          <p:grpSp>
            <p:nvGrpSpPr>
              <p:cNvPr id="88" name="组合 87"/>
              <p:cNvGrpSpPr/>
              <p:nvPr/>
            </p:nvGrpSpPr>
            <p:grpSpPr>
              <a:xfrm>
                <a:off x="-14004" y="410"/>
                <a:ext cx="20590" cy="8267"/>
                <a:chOff x="-7965" y="390"/>
                <a:chExt cx="20590" cy="8267"/>
              </a:xfrm>
            </p:grpSpPr>
            <p:grpSp>
              <p:nvGrpSpPr>
                <p:cNvPr id="50" name="组合 49"/>
                <p:cNvGrpSpPr/>
                <p:nvPr/>
              </p:nvGrpSpPr>
              <p:grpSpPr>
                <a:xfrm>
                  <a:off x="-7965" y="390"/>
                  <a:ext cx="12692" cy="6236"/>
                  <a:chOff x="707" y="298"/>
                  <a:chExt cx="11151" cy="5693"/>
                </a:xfrm>
              </p:grpSpPr>
              <p:sp>
                <p:nvSpPr>
                  <p:cNvPr id="6" name="立方体 5"/>
                  <p:cNvSpPr/>
                  <p:nvPr/>
                </p:nvSpPr>
                <p:spPr>
                  <a:xfrm>
                    <a:off x="4981" y="2607"/>
                    <a:ext cx="2396" cy="810"/>
                  </a:xfrm>
                  <a:prstGeom prst="cube">
                    <a:avLst>
                      <a:gd name="adj" fmla="val 781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" name="立方体 6"/>
                  <p:cNvSpPr/>
                  <p:nvPr/>
                </p:nvSpPr>
                <p:spPr>
                  <a:xfrm>
                    <a:off x="4705" y="4441"/>
                    <a:ext cx="2995" cy="1012"/>
                  </a:xfrm>
                  <a:prstGeom prst="cube">
                    <a:avLst>
                      <a:gd name="adj" fmla="val 781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" name="立方体 7"/>
                  <p:cNvSpPr/>
                  <p:nvPr/>
                </p:nvSpPr>
                <p:spPr>
                  <a:xfrm>
                    <a:off x="5417" y="976"/>
                    <a:ext cx="1797" cy="607"/>
                  </a:xfrm>
                  <a:prstGeom prst="cube">
                    <a:avLst>
                      <a:gd name="adj" fmla="val 781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" name="肘形连接符 11"/>
                  <p:cNvCxnSpPr/>
                  <p:nvPr/>
                </p:nvCxnSpPr>
                <p:spPr>
                  <a:xfrm>
                    <a:off x="3344" y="566"/>
                    <a:ext cx="2949" cy="567"/>
                  </a:xfrm>
                  <a:prstGeom prst="bentConnector3">
                    <a:avLst>
                      <a:gd name="adj1" fmla="val 99898"/>
                    </a:avLst>
                  </a:prstGeom>
                  <a:ln w="19050" cmpd="sng">
                    <a:solidFill>
                      <a:schemeClr val="tx1"/>
                    </a:solidFill>
                    <a:prstDash val="solid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直接箭头连接符 15"/>
                  <p:cNvCxnSpPr/>
                  <p:nvPr/>
                </p:nvCxnSpPr>
                <p:spPr>
                  <a:xfrm>
                    <a:off x="3684" y="2153"/>
                    <a:ext cx="2495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接箭头连接符 16"/>
                  <p:cNvCxnSpPr/>
                  <p:nvPr/>
                </p:nvCxnSpPr>
                <p:spPr>
                  <a:xfrm>
                    <a:off x="3911" y="3929"/>
                    <a:ext cx="2268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直接箭头连接符 17"/>
                  <p:cNvCxnSpPr/>
                  <p:nvPr/>
                </p:nvCxnSpPr>
                <p:spPr>
                  <a:xfrm>
                    <a:off x="6292" y="1586"/>
                    <a:ext cx="0" cy="1361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直接箭头连接符 18"/>
                  <p:cNvCxnSpPr/>
                  <p:nvPr/>
                </p:nvCxnSpPr>
                <p:spPr>
                  <a:xfrm>
                    <a:off x="6292" y="3417"/>
                    <a:ext cx="0" cy="1361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" name="立方体 19"/>
                  <p:cNvSpPr/>
                  <p:nvPr/>
                </p:nvSpPr>
                <p:spPr>
                  <a:xfrm>
                    <a:off x="1288" y="1813"/>
                    <a:ext cx="2396" cy="810"/>
                  </a:xfrm>
                  <a:prstGeom prst="cube">
                    <a:avLst>
                      <a:gd name="adj" fmla="val 781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" name="立方体 20"/>
                  <p:cNvSpPr/>
                  <p:nvPr/>
                </p:nvSpPr>
                <p:spPr>
                  <a:xfrm>
                    <a:off x="1027" y="3420"/>
                    <a:ext cx="2995" cy="1012"/>
                  </a:xfrm>
                  <a:prstGeom prst="cube">
                    <a:avLst>
                      <a:gd name="adj" fmla="val 781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" name="立方体 21"/>
                  <p:cNvSpPr/>
                  <p:nvPr/>
                </p:nvSpPr>
                <p:spPr>
                  <a:xfrm>
                    <a:off x="1530" y="298"/>
                    <a:ext cx="1797" cy="607"/>
                  </a:xfrm>
                  <a:prstGeom prst="cube">
                    <a:avLst>
                      <a:gd name="adj" fmla="val 781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3" name="直接连接符 22"/>
                  <p:cNvCxnSpPr/>
                  <p:nvPr/>
                </p:nvCxnSpPr>
                <p:spPr>
                  <a:xfrm flipV="1">
                    <a:off x="2323" y="2606"/>
                    <a:ext cx="0" cy="1248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/>
                  <p:cNvCxnSpPr/>
                  <p:nvPr/>
                </p:nvCxnSpPr>
                <p:spPr>
                  <a:xfrm flipV="1">
                    <a:off x="2323" y="905"/>
                    <a:ext cx="0" cy="1248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" name="平行四边形 25"/>
                  <p:cNvSpPr/>
                  <p:nvPr/>
                </p:nvSpPr>
                <p:spPr>
                  <a:xfrm>
                    <a:off x="707" y="4988"/>
                    <a:ext cx="3204" cy="1003"/>
                  </a:xfrm>
                  <a:prstGeom prst="parallelogram">
                    <a:avLst>
                      <a:gd name="adj" fmla="val 93828"/>
                    </a:avLst>
                  </a:prstGeom>
                  <a:blipFill rotWithShape="1">
                    <a:blip r:embed="rId1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7" name="直接连接符 26"/>
                  <p:cNvCxnSpPr/>
                  <p:nvPr/>
                </p:nvCxnSpPr>
                <p:spPr>
                  <a:xfrm flipV="1">
                    <a:off x="2323" y="4421"/>
                    <a:ext cx="0" cy="907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直接箭头连接符 28"/>
                  <p:cNvCxnSpPr>
                    <a:endCxn id="30" idx="1"/>
                  </p:cNvCxnSpPr>
                  <p:nvPr>
                    <p:custDataLst>
                      <p:tags r:id="rId2"/>
                    </p:custDataLst>
                  </p:nvPr>
                </p:nvCxnSpPr>
                <p:spPr>
                  <a:xfrm flipV="1">
                    <a:off x="7200" y="1303"/>
                    <a:ext cx="3182" cy="15"/>
                  </a:xfrm>
                  <a:prstGeom prst="straightConnector1">
                    <a:avLst/>
                  </a:prstGeom>
                  <a:ln w="1905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" name="矩形 29"/>
                  <p:cNvSpPr/>
                  <p:nvPr>
                    <p:custDataLst>
                      <p:tags r:id="rId3"/>
                    </p:custDataLst>
                  </p:nvPr>
                </p:nvSpPr>
                <p:spPr>
                  <a:xfrm>
                    <a:off x="10382" y="1019"/>
                    <a:ext cx="1475" cy="567"/>
                  </a:xfrm>
                  <a:prstGeom prst="rect">
                    <a:avLst/>
                  </a:prstGeom>
                  <a:solidFill>
                    <a:srgbClr val="F5B183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rPr>
                      <a:t>Head</a:t>
                    </a:r>
                    <a:endParaRPr lang="en-US" altLang="zh-CN" sz="16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31" name="直接箭头连接符 30"/>
                  <p:cNvCxnSpPr/>
                  <p:nvPr>
                    <p:custDataLst>
                      <p:tags r:id="rId4"/>
                    </p:custDataLst>
                  </p:nvPr>
                </p:nvCxnSpPr>
                <p:spPr>
                  <a:xfrm>
                    <a:off x="7415" y="3066"/>
                    <a:ext cx="919" cy="11"/>
                  </a:xfrm>
                  <a:prstGeom prst="straightConnector1">
                    <a:avLst/>
                  </a:prstGeom>
                  <a:ln w="1905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" name="矩形 31"/>
                  <p:cNvSpPr/>
                  <p:nvPr>
                    <p:custDataLst>
                      <p:tags r:id="rId5"/>
                    </p:custDataLst>
                  </p:nvPr>
                </p:nvSpPr>
                <p:spPr>
                  <a:xfrm>
                    <a:off x="10370" y="2809"/>
                    <a:ext cx="1475" cy="567"/>
                  </a:xfrm>
                  <a:prstGeom prst="rect">
                    <a:avLst/>
                  </a:prstGeom>
                  <a:solidFill>
                    <a:srgbClr val="F5B183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rPr>
                      <a:t>Head</a:t>
                    </a:r>
                    <a:endParaRPr lang="en-US" altLang="zh-CN" sz="16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endParaRPr>
                  </a:p>
                </p:txBody>
              </p:sp>
              <p:sp>
                <p:nvSpPr>
                  <p:cNvPr id="34" name="矩形 33"/>
                  <p:cNvSpPr/>
                  <p:nvPr>
                    <p:custDataLst>
                      <p:tags r:id="rId6"/>
                    </p:custDataLst>
                  </p:nvPr>
                </p:nvSpPr>
                <p:spPr>
                  <a:xfrm>
                    <a:off x="10375" y="4764"/>
                    <a:ext cx="1483" cy="567"/>
                  </a:xfrm>
                  <a:prstGeom prst="rect">
                    <a:avLst/>
                  </a:prstGeom>
                  <a:solidFill>
                    <a:srgbClr val="F5B183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rPr>
                      <a:t>Head</a:t>
                    </a:r>
                    <a:endParaRPr lang="en-US" altLang="zh-CN" sz="16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5" name="文本框 34"/>
                      <p:cNvSpPr txBox="1"/>
                      <p:nvPr/>
                    </p:nvSpPr>
                    <p:spPr>
                      <a:xfrm>
                        <a:off x="5290" y="1061"/>
                        <a:ext cx="1003" cy="44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L</m:t>
                              </m:r>
                              <m:r>
                                <a:rPr lang="en-US" altLang="zh-CN" sz="1400" baseline="-25000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0</m:t>
                              </m:r>
                            </m:oMath>
                          </m:oMathPara>
                        </a14:m>
                        <a:endParaRPr lang="en-US" altLang="zh-CN" sz="1400" baseline="-2500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35" name="文本框 34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90" y="1061"/>
                        <a:ext cx="1003" cy="441"/>
                      </a:xfrm>
                      <a:prstGeom prst="rect">
                        <a:avLst/>
                      </a:prstGeom>
                      <a:blipFill rotWithShape="1">
                        <a:blip r:embed="rId7"/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7" name="文本框 36"/>
                      <p:cNvSpPr txBox="1"/>
                      <p:nvPr/>
                    </p:nvSpPr>
                    <p:spPr>
                      <a:xfrm>
                        <a:off x="4819" y="4720"/>
                        <a:ext cx="1003" cy="44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L</m:t>
                              </m:r>
                              <m:r>
                                <a:rPr lang="en-US" altLang="zh-CN" sz="1400" baseline="-25000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2</m:t>
                              </m:r>
                            </m:oMath>
                          </m:oMathPara>
                        </a14:m>
                        <a:endParaRPr lang="en-US" altLang="zh-CN" sz="1400" baseline="-2500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37" name="文本框 36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819" y="4720"/>
                        <a:ext cx="1003" cy="441"/>
                      </a:xfrm>
                      <a:prstGeom prst="rect">
                        <a:avLst/>
                      </a:prstGeom>
                      <a:blipFill rotWithShape="1">
                        <a:blip r:embed="rId8"/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8" name="文本框 37"/>
                      <p:cNvSpPr txBox="1"/>
                      <p:nvPr/>
                    </p:nvSpPr>
                    <p:spPr>
                      <a:xfrm>
                        <a:off x="4981" y="2751"/>
                        <a:ext cx="1003" cy="44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L</m:t>
                              </m:r>
                              <m:r>
                                <a:rPr lang="en-US" altLang="zh-CN" sz="1400" baseline="-25000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altLang="zh-CN" sz="1400" baseline="-2500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38" name="文本框 37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981" y="2751"/>
                        <a:ext cx="1003" cy="441"/>
                      </a:xfrm>
                      <a:prstGeom prst="rect">
                        <a:avLst/>
                      </a:prstGeom>
                      <a:blipFill rotWithShape="1">
                        <a:blip r:embed="rId9"/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39" name="直接箭头连接符 38"/>
                  <p:cNvCxnSpPr/>
                  <p:nvPr>
                    <p:custDataLst>
                      <p:tags r:id="rId10"/>
                    </p:custDataLst>
                  </p:nvPr>
                </p:nvCxnSpPr>
                <p:spPr>
                  <a:xfrm>
                    <a:off x="10942" y="621"/>
                    <a:ext cx="0" cy="355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0" name="文本框 39"/>
                      <p:cNvSpPr txBox="1"/>
                      <p:nvPr>
                        <p:custDataLst>
                          <p:tags r:id="rId11"/>
                        </p:custDataLst>
                      </p:nvPr>
                    </p:nvSpPr>
                    <p:spPr>
                      <a:xfrm>
                        <a:off x="10743" y="579"/>
                        <a:ext cx="953" cy="44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 anchor="b" anchorCtr="0">
                        <a:spAutoFit/>
                      </a:bodyPr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  <m:r>
                                <a:rPr lang="en-US" altLang="zh-CN" sz="1400" i="1" baseline="-25000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0</m:t>
                              </m:r>
                            </m:oMath>
                          </m:oMathPara>
                        </a14:m>
                        <a:endParaRPr lang="en-US" altLang="zh-CN" sz="1400" i="1" baseline="-2500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40" name="文本框 3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>
                        <p:custDataLst>
                          <p:tags r:id="rId12"/>
                        </p:custDataLst>
                      </p:nvPr>
                    </p:nvSpPr>
                    <p:spPr>
                      <a:xfrm>
                        <a:off x="10743" y="579"/>
                        <a:ext cx="953" cy="441"/>
                      </a:xfrm>
                      <a:prstGeom prst="rect">
                        <a:avLst/>
                      </a:prstGeom>
                      <a:blipFill rotWithShape="1">
                        <a:blip r:embed="rId13"/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41" name="曲线连接符 40"/>
                  <p:cNvCxnSpPr/>
                  <p:nvPr>
                    <p:custDataLst>
                      <p:tags r:id="rId14"/>
                    </p:custDataLst>
                  </p:nvPr>
                </p:nvCxnSpPr>
                <p:spPr>
                  <a:xfrm rot="10800000" flipV="1">
                    <a:off x="6632" y="1544"/>
                    <a:ext cx="3743" cy="1469"/>
                  </a:xfrm>
                  <a:prstGeom prst="curvedConnector3">
                    <a:avLst>
                      <a:gd name="adj1" fmla="val 49987"/>
                    </a:avLst>
                  </a:prstGeom>
                  <a:ln w="19050">
                    <a:solidFill>
                      <a:srgbClr val="FF0000"/>
                    </a:solidFill>
                    <a:prstDash val="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曲线连接符 41"/>
                  <p:cNvCxnSpPr/>
                  <p:nvPr>
                    <p:custDataLst>
                      <p:tags r:id="rId15"/>
                    </p:custDataLst>
                  </p:nvPr>
                </p:nvCxnSpPr>
                <p:spPr>
                  <a:xfrm rot="10800000" flipV="1">
                    <a:off x="6728" y="3359"/>
                    <a:ext cx="3647" cy="1426"/>
                  </a:xfrm>
                  <a:prstGeom prst="curvedConnector3">
                    <a:avLst>
                      <a:gd name="adj1" fmla="val 49986"/>
                    </a:avLst>
                  </a:prstGeom>
                  <a:ln w="19050">
                    <a:solidFill>
                      <a:srgbClr val="FF0000"/>
                    </a:solidFill>
                    <a:prstDash val="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3" name="文本框 42"/>
                      <p:cNvSpPr txBox="1"/>
                      <p:nvPr>
                        <p:custDataLst>
                          <p:tags r:id="rId16"/>
                        </p:custDataLst>
                      </p:nvPr>
                    </p:nvSpPr>
                    <p:spPr>
                      <a:xfrm>
                        <a:off x="6518" y="2271"/>
                        <a:ext cx="1816" cy="44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 anchor="b" anchorCtr="0">
                        <a:spAutoFit/>
                      </a:bodyPr>
                      <a:p>
                        <a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</a:rPr>
                          <a:t>R</a:t>
                        </a:r>
                        <a14:m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CN" sz="140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efined</m:t>
                            </m:r>
                            <m:r>
                              <a:rPr lang="en-US" altLang="zh-CN" sz="140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</m:t>
                            </m:r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𝑃</m:t>
                            </m:r>
                            <m:r>
                              <a:rPr lang="en-US" altLang="zh-CN" sz="1400" i="1" baseline="-25000"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0</m:t>
                            </m:r>
                          </m:oMath>
                        </a14:m>
                        <a:endParaRPr lang="en-US" altLang="zh-CN" sz="1400" i="1" baseline="-2500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43" name="文本框 42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>
                        <p:custDataLst>
                          <p:tags r:id="rId17"/>
                        </p:custDataLst>
                      </p:nvPr>
                    </p:nvSpPr>
                    <p:spPr>
                      <a:xfrm>
                        <a:off x="6518" y="2271"/>
                        <a:ext cx="1816" cy="441"/>
                      </a:xfrm>
                      <a:prstGeom prst="rect">
                        <a:avLst/>
                      </a:prstGeom>
                      <a:blipFill rotWithShape="1">
                        <a:blip r:embed="rId18"/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4" name="文本框 43"/>
                      <p:cNvSpPr txBox="1"/>
                      <p:nvPr>
                        <p:custDataLst>
                          <p:tags r:id="rId19"/>
                        </p:custDataLst>
                      </p:nvPr>
                    </p:nvSpPr>
                    <p:spPr>
                      <a:xfrm>
                        <a:off x="6860" y="4082"/>
                        <a:ext cx="1816" cy="44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 anchor="b" anchorCtr="0">
                        <a:spAutoFit/>
                      </a:bodyPr>
                      <a:p>
                        <a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</a:rPr>
                          <a:t>R</a:t>
                        </a:r>
                        <a14:m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CN" sz="140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efined</m:t>
                            </m:r>
                            <m:r>
                              <a:rPr lang="en-US" altLang="zh-CN" sz="140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</m:t>
                            </m:r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𝑃</m:t>
                            </m:r>
                            <m:r>
                              <a:rPr lang="en-US" altLang="zh-CN" sz="1400" i="1" baseline="-25000"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1</m:t>
                            </m:r>
                          </m:oMath>
                        </a14:m>
                        <a:endParaRPr lang="en-US" altLang="zh-CN" sz="1400" i="1" baseline="-2500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44" name="文本框 43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>
                        <p:custDataLst>
                          <p:tags r:id="rId20"/>
                        </p:custDataLst>
                      </p:nvPr>
                    </p:nvSpPr>
                    <p:spPr>
                      <a:xfrm>
                        <a:off x="6860" y="4082"/>
                        <a:ext cx="1816" cy="441"/>
                      </a:xfrm>
                      <a:prstGeom prst="rect">
                        <a:avLst/>
                      </a:prstGeom>
                      <a:blipFill rotWithShape="1">
                        <a:blip r:embed="rId21"/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5" name="圆角矩形 44"/>
                  <p:cNvSpPr/>
                  <p:nvPr/>
                </p:nvSpPr>
                <p:spPr>
                  <a:xfrm>
                    <a:off x="8334" y="2855"/>
                    <a:ext cx="1474" cy="454"/>
                  </a:xfrm>
                  <a:prstGeom prst="roundRect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rPr>
                      <a:t>FMG</a:t>
                    </a:r>
                    <a:endParaRPr lang="en-US" altLang="zh-CN" sz="14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46" name="直接箭头连接符 45"/>
                  <p:cNvCxnSpPr>
                    <a:stCxn id="45" idx="3"/>
                    <a:endCxn id="32" idx="1"/>
                  </p:cNvCxnSpPr>
                  <p:nvPr>
                    <p:custDataLst>
                      <p:tags r:id="rId22"/>
                    </p:custDataLst>
                  </p:nvPr>
                </p:nvCxnSpPr>
                <p:spPr>
                  <a:xfrm>
                    <a:off x="9808" y="3082"/>
                    <a:ext cx="562" cy="11"/>
                  </a:xfrm>
                  <a:prstGeom prst="straightConnector1">
                    <a:avLst/>
                  </a:prstGeom>
                  <a:ln w="1905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直接箭头连接符 46"/>
                  <p:cNvCxnSpPr/>
                  <p:nvPr>
                    <p:custDataLst>
                      <p:tags r:id="rId23"/>
                    </p:custDataLst>
                  </p:nvPr>
                </p:nvCxnSpPr>
                <p:spPr>
                  <a:xfrm>
                    <a:off x="7432" y="5012"/>
                    <a:ext cx="919" cy="11"/>
                  </a:xfrm>
                  <a:prstGeom prst="straightConnector1">
                    <a:avLst/>
                  </a:prstGeom>
                  <a:ln w="1905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8" name="圆角矩形 47"/>
                  <p:cNvSpPr/>
                  <p:nvPr/>
                </p:nvSpPr>
                <p:spPr>
                  <a:xfrm>
                    <a:off x="8351" y="4801"/>
                    <a:ext cx="1474" cy="454"/>
                  </a:xfrm>
                  <a:prstGeom prst="roundRect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rPr>
                      <a:t>FMG</a:t>
                    </a:r>
                    <a:endParaRPr lang="en-US" altLang="zh-CN" sz="14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49" name="直接箭头连接符 48"/>
                  <p:cNvCxnSpPr>
                    <a:stCxn id="48" idx="3"/>
                    <a:endCxn id="34" idx="1"/>
                  </p:cNvCxnSpPr>
                  <p:nvPr>
                    <p:custDataLst>
                      <p:tags r:id="rId24"/>
                    </p:custDataLst>
                  </p:nvPr>
                </p:nvCxnSpPr>
                <p:spPr>
                  <a:xfrm>
                    <a:off x="9825" y="5028"/>
                    <a:ext cx="550" cy="20"/>
                  </a:xfrm>
                  <a:prstGeom prst="straightConnector1">
                    <a:avLst/>
                  </a:prstGeom>
                  <a:ln w="1905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1" name="圆角矩形 50"/>
                <p:cNvSpPr/>
                <p:nvPr/>
              </p:nvSpPr>
              <p:spPr>
                <a:xfrm>
                  <a:off x="5612" y="1305"/>
                  <a:ext cx="7013" cy="4564"/>
                </a:xfrm>
                <a:prstGeom prst="roundRect">
                  <a:avLst/>
                </a:prstGeom>
                <a:noFill/>
                <a:ln w="31750">
                  <a:solidFill>
                    <a:srgbClr val="FFC514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2" name="立方体 51"/>
                <p:cNvSpPr/>
                <p:nvPr/>
              </p:nvSpPr>
              <p:spPr>
                <a:xfrm>
                  <a:off x="6162" y="1568"/>
                  <a:ext cx="631" cy="1851"/>
                </a:xfrm>
                <a:prstGeom prst="cube">
                  <a:avLst>
                    <a:gd name="adj" fmla="val 6105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3" name="立方体 52"/>
                <p:cNvSpPr/>
                <p:nvPr/>
              </p:nvSpPr>
              <p:spPr>
                <a:xfrm>
                  <a:off x="8203" y="1938"/>
                  <a:ext cx="379" cy="1111"/>
                </a:xfrm>
                <a:prstGeom prst="cube">
                  <a:avLst>
                    <a:gd name="adj" fmla="val 6105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4" name="立方体 53"/>
                <p:cNvSpPr/>
                <p:nvPr/>
              </p:nvSpPr>
              <p:spPr>
                <a:xfrm>
                  <a:off x="9955" y="1937"/>
                  <a:ext cx="340" cy="1112"/>
                </a:xfrm>
                <a:prstGeom prst="cub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5" name="立方体 54"/>
                <p:cNvSpPr/>
                <p:nvPr/>
              </p:nvSpPr>
              <p:spPr>
                <a:xfrm>
                  <a:off x="7069" y="3918"/>
                  <a:ext cx="340" cy="1342"/>
                </a:xfrm>
                <a:prstGeom prst="cub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6" name="立方体 55"/>
                <p:cNvSpPr/>
                <p:nvPr/>
              </p:nvSpPr>
              <p:spPr>
                <a:xfrm>
                  <a:off x="8242" y="3930"/>
                  <a:ext cx="340" cy="1318"/>
                </a:xfrm>
                <a:prstGeom prst="cub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7" name="立方体 56"/>
                <p:cNvSpPr/>
                <p:nvPr/>
              </p:nvSpPr>
              <p:spPr>
                <a:xfrm>
                  <a:off x="9110" y="4449"/>
                  <a:ext cx="340" cy="799"/>
                </a:xfrm>
                <a:prstGeom prst="cub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58" name="直接箭头连接符 57"/>
                <p:cNvCxnSpPr/>
                <p:nvPr>
                  <p:custDataLst>
                    <p:tags r:id="rId25"/>
                  </p:custDataLst>
                </p:nvPr>
              </p:nvCxnSpPr>
              <p:spPr>
                <a:xfrm>
                  <a:off x="6899" y="2567"/>
                  <a:ext cx="1134" cy="12"/>
                </a:xfrm>
                <a:prstGeom prst="straightConnector1">
                  <a:avLst/>
                </a:prstGeom>
                <a:ln w="15875">
                  <a:solidFill>
                    <a:srgbClr val="F5B183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9" name="文本框 58"/>
                    <p:cNvSpPr txBox="1"/>
                    <p:nvPr>
                      <p:custDataLst>
                        <p:tags r:id="rId26"/>
                      </p:custDataLst>
                    </p:nvPr>
                  </p:nvSpPr>
                  <p:spPr>
                    <a:xfrm>
                      <a:off x="6956" y="2234"/>
                      <a:ext cx="2067" cy="41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b" anchorCtr="0">
                      <a:spAutoFit/>
                    </a:bodyPr>
                    <a:p>
                      <a:r>
                        <a:rPr lang="en-US" altLang="zh-CN" sz="10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</a:rPr>
                        <a:t>R</a:t>
                      </a:r>
                      <a14:m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0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+mn-lt"/>
                              <a:ea typeface="+mn-ea"/>
                            </a:rPr>
                            <m:t>esize</m:t>
                          </m:r>
                          <m:r>
                            <a:rPr lang="en-US" altLang="zh-CN" sz="10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 </m:t>
                          </m:r>
                        </m:oMath>
                      </a14:m>
                      <a:endParaRPr lang="en-US" altLang="zh-CN" sz="1000" i="1" baseline="-25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59" name="文本框 5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>
                      <p:custDataLst>
                        <p:tags r:id="rId27"/>
                      </p:custDataLst>
                    </p:nvPr>
                  </p:nvSpPr>
                  <p:spPr>
                    <a:xfrm>
                      <a:off x="6956" y="2234"/>
                      <a:ext cx="2067" cy="413"/>
                    </a:xfrm>
                    <a:prstGeom prst="rect">
                      <a:avLst/>
                    </a:prstGeom>
                    <a:blipFill rotWithShape="1">
                      <a:blip r:embed="rId28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1" name="直接箭头连接符 60"/>
                <p:cNvCxnSpPr/>
                <p:nvPr>
                  <p:custDataLst>
                    <p:tags r:id="rId29"/>
                  </p:custDataLst>
                </p:nvPr>
              </p:nvCxnSpPr>
              <p:spPr>
                <a:xfrm>
                  <a:off x="8656" y="2567"/>
                  <a:ext cx="1020" cy="12"/>
                </a:xfrm>
                <a:prstGeom prst="straightConnector1">
                  <a:avLst/>
                </a:prstGeom>
                <a:ln w="15875">
                  <a:solidFill>
                    <a:srgbClr val="F5B183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2" name="文本框 61"/>
                    <p:cNvSpPr txBox="1"/>
                    <p:nvPr>
                      <p:custDataLst>
                        <p:tags r:id="rId30"/>
                      </p:custDataLst>
                    </p:nvPr>
                  </p:nvSpPr>
                  <p:spPr>
                    <a:xfrm>
                      <a:off x="8600" y="2496"/>
                      <a:ext cx="1247" cy="15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b" anchorCtr="0">
                      <a:no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CN" sz="10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+mn-lt"/>
                                <a:ea typeface="+mn-ea"/>
                              </a:rPr>
                              <m:t>Flatten</m:t>
                            </m:r>
                            <m:r>
                              <a:rPr lang="en-US" altLang="zh-CN" sz="10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+mn-lt"/>
                                <a:ea typeface="+mn-ea"/>
                              </a:rPr>
                              <m:t> </m:t>
                            </m:r>
                          </m:oMath>
                        </m:oMathPara>
                      </a14:m>
                      <a:endParaRPr lang="en-US" altLang="zh-CN" sz="1400" i="1" baseline="-2500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62" name="文本框 6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>
                      <p:custDataLst>
                        <p:tags r:id="rId31"/>
                      </p:custDataLst>
                    </p:nvPr>
                  </p:nvSpPr>
                  <p:spPr>
                    <a:xfrm>
                      <a:off x="8600" y="2496"/>
                      <a:ext cx="1247" cy="152"/>
                    </a:xfrm>
                    <a:prstGeom prst="rect">
                      <a:avLst/>
                    </a:prstGeom>
                    <a:blipFill rotWithShape="1">
                      <a:blip r:embed="rId32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3" name="肘形连接符 62"/>
                <p:cNvCxnSpPr/>
                <p:nvPr/>
              </p:nvCxnSpPr>
              <p:spPr>
                <a:xfrm rot="5400000" flipV="1">
                  <a:off x="6048" y="3813"/>
                  <a:ext cx="1134" cy="681"/>
                </a:xfrm>
                <a:prstGeom prst="bentConnector3">
                  <a:avLst>
                    <a:gd name="adj1" fmla="val 100308"/>
                  </a:avLst>
                </a:prstGeom>
                <a:ln w="15875">
                  <a:solidFill>
                    <a:srgbClr val="F5B183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箭头连接符 63"/>
                <p:cNvCxnSpPr/>
                <p:nvPr/>
              </p:nvCxnSpPr>
              <p:spPr>
                <a:xfrm>
                  <a:off x="7466" y="4747"/>
                  <a:ext cx="680" cy="0"/>
                </a:xfrm>
                <a:prstGeom prst="straightConnector1">
                  <a:avLst/>
                </a:prstGeom>
                <a:ln w="15875">
                  <a:solidFill>
                    <a:srgbClr val="F5B183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箭头连接符 64"/>
                <p:cNvCxnSpPr/>
                <p:nvPr/>
              </p:nvCxnSpPr>
              <p:spPr>
                <a:xfrm>
                  <a:off x="8656" y="4747"/>
                  <a:ext cx="397" cy="0"/>
                </a:xfrm>
                <a:prstGeom prst="straightConnector1">
                  <a:avLst/>
                </a:prstGeom>
                <a:ln w="15875">
                  <a:solidFill>
                    <a:srgbClr val="F5B183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箭头连接符 65"/>
                <p:cNvCxnSpPr/>
                <p:nvPr/>
              </p:nvCxnSpPr>
              <p:spPr>
                <a:xfrm>
                  <a:off x="9507" y="4747"/>
                  <a:ext cx="340" cy="0"/>
                </a:xfrm>
                <a:prstGeom prst="straightConnector1">
                  <a:avLst/>
                </a:prstGeom>
                <a:ln w="15875">
                  <a:solidFill>
                    <a:srgbClr val="F5B183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" name="文本框 66"/>
                    <p:cNvSpPr txBox="1"/>
                    <p:nvPr>
                      <p:custDataLst>
                        <p:tags r:id="rId33"/>
                      </p:custDataLst>
                    </p:nvPr>
                  </p:nvSpPr>
                  <p:spPr>
                    <a:xfrm>
                      <a:off x="6049" y="4709"/>
                      <a:ext cx="1247" cy="15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b" anchorCtr="0">
                      <a:no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CN" sz="10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+mn-lt"/>
                                <a:ea typeface="+mn-ea"/>
                              </a:rPr>
                              <m:t>ROI</m:t>
                            </m:r>
                            <m:r>
                              <a:rPr lang="en-US" altLang="zh-CN" sz="10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+mn-lt"/>
                                <a:ea typeface="+mn-ea"/>
                              </a:rPr>
                              <m:t> </m:t>
                            </m:r>
                          </m:oMath>
                        </m:oMathPara>
                      </a14:m>
                      <a:endParaRPr lang="en-US" altLang="zh-CN" sz="1400" i="1" baseline="-2500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67" name="文本框 6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>
                      <p:custDataLst>
                        <p:tags r:id="rId34"/>
                      </p:custDataLst>
                    </p:nvPr>
                  </p:nvSpPr>
                  <p:spPr>
                    <a:xfrm>
                      <a:off x="6049" y="4709"/>
                      <a:ext cx="1247" cy="152"/>
                    </a:xfrm>
                    <a:prstGeom prst="rect">
                      <a:avLst/>
                    </a:prstGeom>
                    <a:blipFill rotWithShape="1">
                      <a:blip r:embed="rId3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8" name="文本框 67"/>
                    <p:cNvSpPr txBox="1"/>
                    <p:nvPr>
                      <p:custDataLst>
                        <p:tags r:id="rId36"/>
                      </p:custDataLst>
                    </p:nvPr>
                  </p:nvSpPr>
                  <p:spPr>
                    <a:xfrm>
                      <a:off x="7183" y="4709"/>
                      <a:ext cx="1247" cy="15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b" anchorCtr="0">
                      <a:no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CN" sz="10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+mn-lt"/>
                                <a:ea typeface="+mn-ea"/>
                              </a:rPr>
                              <m:t>Conv</m:t>
                            </m:r>
                            <m:r>
                              <a:rPr lang="en-US" altLang="zh-CN" sz="10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+mn-lt"/>
                                <a:ea typeface="+mn-ea"/>
                              </a:rPr>
                              <m:t> </m:t>
                            </m:r>
                          </m:oMath>
                        </m:oMathPara>
                      </a14:m>
                      <a:endParaRPr lang="en-US" altLang="zh-CN" sz="1400" i="1" baseline="-2500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68" name="文本框 6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>
                      <p:custDataLst>
                        <p:tags r:id="rId37"/>
                      </p:custDataLst>
                    </p:nvPr>
                  </p:nvSpPr>
                  <p:spPr>
                    <a:xfrm>
                      <a:off x="7183" y="4709"/>
                      <a:ext cx="1247" cy="152"/>
                    </a:xfrm>
                    <a:prstGeom prst="rect">
                      <a:avLst/>
                    </a:prstGeom>
                    <a:blipFill rotWithShape="1">
                      <a:blip r:embed="rId38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9" name="文本框 68"/>
                    <p:cNvSpPr txBox="1"/>
                    <p:nvPr>
                      <p:custDataLst>
                        <p:tags r:id="rId39"/>
                      </p:custDataLst>
                    </p:nvPr>
                  </p:nvSpPr>
                  <p:spPr>
                    <a:xfrm>
                      <a:off x="8260" y="4722"/>
                      <a:ext cx="1247" cy="15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b" anchorCtr="0">
                      <a:no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CN" sz="10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+mn-lt"/>
                                <a:ea typeface="+mn-ea"/>
                              </a:rPr>
                              <m:t>FC</m:t>
                            </m:r>
                            <m:r>
                              <a:rPr lang="en-US" altLang="zh-CN" sz="10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+mn-lt"/>
                                <a:ea typeface="+mn-ea"/>
                              </a:rPr>
                              <m:t> </m:t>
                            </m:r>
                          </m:oMath>
                        </m:oMathPara>
                      </a14:m>
                      <a:endParaRPr lang="en-US" altLang="zh-CN" sz="1400" i="1" baseline="-2500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69" name="文本框 6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>
                      <p:custDataLst>
                        <p:tags r:id="rId40"/>
                      </p:custDataLst>
                    </p:nvPr>
                  </p:nvSpPr>
                  <p:spPr>
                    <a:xfrm>
                      <a:off x="8260" y="4722"/>
                      <a:ext cx="1247" cy="152"/>
                    </a:xfrm>
                    <a:prstGeom prst="rect">
                      <a:avLst/>
                    </a:prstGeom>
                    <a:blipFill rotWithShape="1">
                      <a:blip r:embed="rId41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74" name="组合 73"/>
                <p:cNvGrpSpPr/>
                <p:nvPr/>
              </p:nvGrpSpPr>
              <p:grpSpPr>
                <a:xfrm>
                  <a:off x="9905" y="4608"/>
                  <a:ext cx="340" cy="340"/>
                  <a:chOff x="10893" y="4266"/>
                  <a:chExt cx="340" cy="340"/>
                </a:xfrm>
              </p:grpSpPr>
              <p:sp>
                <p:nvSpPr>
                  <p:cNvPr id="70" name="椭圆 69"/>
                  <p:cNvSpPr/>
                  <p:nvPr/>
                </p:nvSpPr>
                <p:spPr>
                  <a:xfrm>
                    <a:off x="10893" y="4266"/>
                    <a:ext cx="340" cy="340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71" name="直接连接符 70"/>
                  <p:cNvCxnSpPr>
                    <a:stCxn id="70" idx="1"/>
                    <a:endCxn id="70" idx="5"/>
                  </p:cNvCxnSpPr>
                  <p:nvPr/>
                </p:nvCxnSpPr>
                <p:spPr>
                  <a:xfrm>
                    <a:off x="10943" y="4316"/>
                    <a:ext cx="240" cy="24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直接连接符 72"/>
                  <p:cNvCxnSpPr>
                    <a:stCxn id="70" idx="7"/>
                    <a:endCxn id="70" idx="3"/>
                  </p:cNvCxnSpPr>
                  <p:nvPr/>
                </p:nvCxnSpPr>
                <p:spPr>
                  <a:xfrm flipH="1">
                    <a:off x="10943" y="4316"/>
                    <a:ext cx="240" cy="24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5" name="直接箭头连接符 74"/>
                <p:cNvCxnSpPr>
                  <a:stCxn id="54" idx="3"/>
                </p:cNvCxnSpPr>
                <p:nvPr/>
              </p:nvCxnSpPr>
              <p:spPr>
                <a:xfrm flipH="1">
                  <a:off x="10075" y="3120"/>
                  <a:ext cx="8" cy="1417"/>
                </a:xfrm>
                <a:prstGeom prst="straightConnector1">
                  <a:avLst/>
                </a:prstGeom>
                <a:ln w="15875">
                  <a:solidFill>
                    <a:srgbClr val="F5B183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76" name="组合 75"/>
                <p:cNvGrpSpPr/>
                <p:nvPr/>
              </p:nvGrpSpPr>
              <p:grpSpPr>
                <a:xfrm>
                  <a:off x="10875" y="3584"/>
                  <a:ext cx="340" cy="340"/>
                  <a:chOff x="10893" y="4266"/>
                  <a:chExt cx="340" cy="340"/>
                </a:xfrm>
              </p:grpSpPr>
              <p:sp>
                <p:nvSpPr>
                  <p:cNvPr id="77" name="椭圆 76"/>
                  <p:cNvSpPr/>
                  <p:nvPr/>
                </p:nvSpPr>
                <p:spPr>
                  <a:xfrm>
                    <a:off x="10893" y="4266"/>
                    <a:ext cx="340" cy="340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78" name="直接连接符 77"/>
                  <p:cNvCxnSpPr>
                    <a:stCxn id="77" idx="1"/>
                    <a:endCxn id="77" idx="5"/>
                  </p:cNvCxnSpPr>
                  <p:nvPr/>
                </p:nvCxnSpPr>
                <p:spPr>
                  <a:xfrm>
                    <a:off x="10943" y="4316"/>
                    <a:ext cx="240" cy="24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接连接符 78"/>
                  <p:cNvCxnSpPr>
                    <a:stCxn id="77" idx="7"/>
                    <a:endCxn id="77" idx="3"/>
                  </p:cNvCxnSpPr>
                  <p:nvPr/>
                </p:nvCxnSpPr>
                <p:spPr>
                  <a:xfrm flipH="1">
                    <a:off x="10943" y="4316"/>
                    <a:ext cx="240" cy="24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0" name="肘形连接符 79"/>
                <p:cNvCxnSpPr/>
                <p:nvPr/>
              </p:nvCxnSpPr>
              <p:spPr>
                <a:xfrm flipV="1">
                  <a:off x="10245" y="3924"/>
                  <a:ext cx="800" cy="854"/>
                </a:xfrm>
                <a:prstGeom prst="bentConnector2">
                  <a:avLst/>
                </a:prstGeom>
                <a:ln w="15875">
                  <a:solidFill>
                    <a:srgbClr val="F5B183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肘形连接符 80"/>
                <p:cNvCxnSpPr/>
                <p:nvPr/>
              </p:nvCxnSpPr>
              <p:spPr>
                <a:xfrm rot="5400000" flipV="1">
                  <a:off x="10281" y="2758"/>
                  <a:ext cx="949" cy="566"/>
                </a:xfrm>
                <a:prstGeom prst="bentConnector3">
                  <a:avLst>
                    <a:gd name="adj1" fmla="val -1527"/>
                  </a:avLst>
                </a:prstGeom>
                <a:ln w="15875">
                  <a:solidFill>
                    <a:srgbClr val="F5B183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82" name="立方体 81"/>
                <p:cNvSpPr/>
                <p:nvPr/>
              </p:nvSpPr>
              <p:spPr>
                <a:xfrm>
                  <a:off x="11832" y="3349"/>
                  <a:ext cx="340" cy="799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>
                      <a:alpha val="41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83" name="肘形连接符 82"/>
                <p:cNvCxnSpPr>
                  <a:endCxn id="82" idx="3"/>
                </p:cNvCxnSpPr>
                <p:nvPr/>
              </p:nvCxnSpPr>
              <p:spPr>
                <a:xfrm flipV="1">
                  <a:off x="9337" y="4148"/>
                  <a:ext cx="2623" cy="1254"/>
                </a:xfrm>
                <a:prstGeom prst="bentConnector2">
                  <a:avLst/>
                </a:prstGeom>
                <a:ln w="15875">
                  <a:solidFill>
                    <a:srgbClr val="F5B183"/>
                  </a:solidFill>
                  <a:prstDash val="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5" name="文本框 84"/>
                    <p:cNvSpPr txBox="1"/>
                    <p:nvPr>
                      <p:custDataLst>
                        <p:tags r:id="rId42"/>
                      </p:custDataLst>
                    </p:nvPr>
                  </p:nvSpPr>
                  <p:spPr>
                    <a:xfrm>
                      <a:off x="10358" y="5331"/>
                      <a:ext cx="1247" cy="1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b" anchorCtr="0">
                      <a:no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CN" sz="10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+mn-lt"/>
                                <a:ea typeface="+mn-ea"/>
                              </a:rPr>
                              <m:t>Identity</m:t>
                            </m:r>
                          </m:oMath>
                        </m:oMathPara>
                      </a14:m>
                      <a:endParaRPr lang="en-US" altLang="zh-CN" sz="1400" i="1" baseline="-2500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85" name="文本框 8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>
                      <p:custDataLst>
                        <p:tags r:id="rId43"/>
                      </p:custDataLst>
                    </p:nvPr>
                  </p:nvSpPr>
                  <p:spPr>
                    <a:xfrm>
                      <a:off x="10358" y="5331"/>
                      <a:ext cx="1247" cy="120"/>
                    </a:xfrm>
                    <a:prstGeom prst="rect">
                      <a:avLst/>
                    </a:prstGeom>
                    <a:blipFill rotWithShape="1">
                      <a:blip r:embed="rId44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6" name="直接连接符 85"/>
                <p:cNvCxnSpPr/>
                <p:nvPr/>
              </p:nvCxnSpPr>
              <p:spPr>
                <a:xfrm flipV="1">
                  <a:off x="4705" y="1885"/>
                  <a:ext cx="907" cy="1247"/>
                </a:xfrm>
                <a:prstGeom prst="line">
                  <a:avLst/>
                </a:prstGeom>
                <a:noFill/>
                <a:ln w="19050">
                  <a:solidFill>
                    <a:srgbClr val="FFC514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</p:cxnSp>
            <p:cxnSp>
              <p:nvCxnSpPr>
                <p:cNvPr id="87" name="直接连接符 86"/>
                <p:cNvCxnSpPr/>
                <p:nvPr/>
              </p:nvCxnSpPr>
              <p:spPr>
                <a:xfrm>
                  <a:off x="4705" y="3699"/>
                  <a:ext cx="1020" cy="1814"/>
                </a:xfrm>
                <a:prstGeom prst="line">
                  <a:avLst/>
                </a:prstGeom>
                <a:noFill/>
                <a:ln w="19050">
                  <a:solidFill>
                    <a:srgbClr val="FFC514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</p:cxnSp>
            <p:cxnSp>
              <p:nvCxnSpPr>
                <p:cNvPr id="195" name="直接连接符 194"/>
                <p:cNvCxnSpPr/>
                <p:nvPr/>
              </p:nvCxnSpPr>
              <p:spPr>
                <a:xfrm flipV="1">
                  <a:off x="-253" y="5822"/>
                  <a:ext cx="1588" cy="2835"/>
                </a:xfrm>
                <a:prstGeom prst="line">
                  <a:avLst/>
                </a:prstGeom>
                <a:noFill/>
                <a:ln w="19050">
                  <a:solidFill>
                    <a:srgbClr val="FFC514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</p:cxnSp>
            <p:cxnSp>
              <p:nvCxnSpPr>
                <p:cNvPr id="197" name="直接连接符 196"/>
                <p:cNvCxnSpPr/>
                <p:nvPr/>
              </p:nvCxnSpPr>
              <p:spPr>
                <a:xfrm flipH="1" flipV="1">
                  <a:off x="2015" y="5822"/>
                  <a:ext cx="5103" cy="2722"/>
                </a:xfrm>
                <a:prstGeom prst="line">
                  <a:avLst/>
                </a:prstGeom>
                <a:noFill/>
                <a:ln w="19050">
                  <a:solidFill>
                    <a:srgbClr val="FFC514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94" name="肘形连接符 93"/>
              <p:cNvCxnSpPr/>
              <p:nvPr/>
            </p:nvCxnSpPr>
            <p:spPr>
              <a:xfrm flipV="1">
                <a:off x="6293" y="3384"/>
                <a:ext cx="1474" cy="428"/>
              </a:xfrm>
              <a:prstGeom prst="bentConnector3">
                <a:avLst>
                  <a:gd name="adj1" fmla="val 61872"/>
                </a:avLst>
              </a:prstGeom>
              <a:ln>
                <a:solidFill>
                  <a:srgbClr val="FFC514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9" name="肘形连接符 98"/>
              <p:cNvCxnSpPr/>
              <p:nvPr/>
            </p:nvCxnSpPr>
            <p:spPr>
              <a:xfrm>
                <a:off x="6293" y="3812"/>
                <a:ext cx="1474" cy="479"/>
              </a:xfrm>
              <a:prstGeom prst="bentConnector3">
                <a:avLst>
                  <a:gd name="adj1" fmla="val 61668"/>
                </a:avLst>
              </a:prstGeom>
              <a:ln>
                <a:solidFill>
                  <a:srgbClr val="FFC514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0" name="文本框 99"/>
                  <p:cNvSpPr txBox="1"/>
                  <p:nvPr>
                    <p:custDataLst>
                      <p:tags r:id="rId45"/>
                    </p:custDataLst>
                  </p:nvPr>
                </p:nvSpPr>
                <p:spPr>
                  <a:xfrm>
                    <a:off x="6973" y="3782"/>
                    <a:ext cx="1085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lang="en-US" altLang="zh-CN" sz="1400" i="1" baseline="-2500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oMath>
                      </m:oMathPara>
                    </a14:m>
                    <a:endParaRPr lang="en-US" altLang="zh-CN" sz="1400" i="1" baseline="-2500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00" name="文本框 9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46"/>
                    </p:custDataLst>
                  </p:nvPr>
                </p:nvSpPr>
                <p:spPr>
                  <a:xfrm>
                    <a:off x="6973" y="3782"/>
                    <a:ext cx="1085" cy="483"/>
                  </a:xfrm>
                  <a:prstGeom prst="rect">
                    <a:avLst/>
                  </a:prstGeom>
                  <a:blipFill rotWithShape="1">
                    <a:blip r:embed="rId4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1" name="矩形 100"/>
              <p:cNvSpPr/>
              <p:nvPr/>
            </p:nvSpPr>
            <p:spPr>
              <a:xfrm>
                <a:off x="7767" y="3211"/>
                <a:ext cx="1464" cy="36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20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Focal loss</a:t>
                </a:r>
                <a:endPara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02" name="矩形 101"/>
              <p:cNvSpPr/>
              <p:nvPr/>
            </p:nvSpPr>
            <p:spPr>
              <a:xfrm>
                <a:off x="7767" y="4104"/>
                <a:ext cx="1678" cy="36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20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Line loUloss</a:t>
                </a:r>
                <a:endPara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196" name="组合 195"/>
            <p:cNvGrpSpPr/>
            <p:nvPr/>
          </p:nvGrpSpPr>
          <p:grpSpPr>
            <a:xfrm>
              <a:off x="1983" y="4606"/>
              <a:ext cx="9646" cy="5069"/>
              <a:chOff x="907" y="4606"/>
              <a:chExt cx="9646" cy="5069"/>
            </a:xfrm>
          </p:grpSpPr>
          <p:sp>
            <p:nvSpPr>
              <p:cNvPr id="126" name="圆角矩形 125"/>
              <p:cNvSpPr/>
              <p:nvPr/>
            </p:nvSpPr>
            <p:spPr>
              <a:xfrm>
                <a:off x="1643" y="4606"/>
                <a:ext cx="7930" cy="4564"/>
              </a:xfrm>
              <a:prstGeom prst="roundRect">
                <a:avLst/>
              </a:prstGeom>
              <a:noFill/>
              <a:ln w="31750">
                <a:solidFill>
                  <a:srgbClr val="FFC514"/>
                </a:solidFill>
                <a:prstDash val="sys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7" name="立方体 126"/>
              <p:cNvSpPr/>
              <p:nvPr/>
            </p:nvSpPr>
            <p:spPr>
              <a:xfrm>
                <a:off x="1819" y="6299"/>
                <a:ext cx="315" cy="926"/>
              </a:xfrm>
              <a:prstGeom prst="cube">
                <a:avLst>
                  <a:gd name="adj" fmla="val 61059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bIns="71755" rtlCol="0" anchor="ctr"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2" name="文本框 131"/>
                  <p:cNvSpPr txBox="1"/>
                  <p:nvPr>
                    <p:custDataLst>
                      <p:tags r:id="rId48"/>
                    </p:custDataLst>
                  </p:nvPr>
                </p:nvSpPr>
                <p:spPr>
                  <a:xfrm>
                    <a:off x="1560" y="6988"/>
                    <a:ext cx="1132" cy="61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Autofit/>
                  </a:bodyPr>
                  <a:p>
                    <a:r>
                      <a:rPr lang="en-US" altLang="zh-CN" sz="1000">
                        <a:latin typeface="Cambria Math" panose="02040503050406030204" charset="0"/>
                        <a:cs typeface="Cambria Math" panose="02040503050406030204" charset="0"/>
                      </a:rPr>
                      <a:t>Input</a:t>
                    </a:r>
                    <a14:m>
                      <m:oMath xmlns:m="http://schemas.openxmlformats.org/officeDocument/2006/math">
                        <m:r>
                          <a:rPr lang="en-US" altLang="zh-CN" sz="10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 </m:t>
                        </m:r>
                        <m:r>
                          <a:rPr lang="en-US" altLang="zh-CN" sz="10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𝑋</m:t>
                        </m:r>
                        <m:r>
                          <a:rPr lang="en-US" altLang="zh-CN" sz="1000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</m:oMath>
                    </a14:m>
                    <a:endParaRPr lang="en-US" altLang="zh-CN" sz="1000" i="1" baseline="-250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n-lt"/>
                      <a:ea typeface="+mn-ea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32" name="文本框 1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49"/>
                    </p:custDataLst>
                  </p:nvPr>
                </p:nvSpPr>
                <p:spPr>
                  <a:xfrm>
                    <a:off x="1560" y="6988"/>
                    <a:ext cx="1132" cy="611"/>
                  </a:xfrm>
                  <a:prstGeom prst="rect">
                    <a:avLst/>
                  </a:prstGeom>
                  <a:blipFill rotWithShape="1">
                    <a:blip r:embed="rId5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4" name="文本框 133"/>
                  <p:cNvSpPr txBox="1"/>
                  <p:nvPr>
                    <p:custDataLst>
                      <p:tags r:id="rId51"/>
                    </p:custDataLst>
                  </p:nvPr>
                </p:nvSpPr>
                <p:spPr>
                  <a:xfrm>
                    <a:off x="7427" y="7395"/>
                    <a:ext cx="1247" cy="15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Autofit/>
                  </a:bodyPr>
                  <a:p>
                    <a:r>
                      <a:rPr sz="1000">
                        <a:latin typeface="Cambria Math" panose="02040503050406030204" charset="0"/>
                        <a:cs typeface="Cambria Math" panose="02040503050406030204" charset="0"/>
                      </a:rPr>
                      <a:t>X</a:t>
                    </a:r>
                    <a:r>
                      <a:rPr lang="en-US" altLang="zh-CN" sz="1000">
                        <a:latin typeface="Cambria Math" panose="02040503050406030204" charset="0"/>
                        <a:cs typeface="Cambria Math" panose="02040503050406030204" charset="0"/>
                      </a:rPr>
                      <a:t>_dir</a:t>
                    </a:r>
                    <a14:m>
                      <m:oMath xmlns:m="http://schemas.openxmlformats.org/officeDocument/2006/math">
                        <m:r>
                          <a:rPr lang="en-US" altLang="zh-CN" sz="10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 </m:t>
                        </m:r>
                      </m:oMath>
                    </a14:m>
                    <a:endParaRPr lang="en-US" altLang="zh-CN" sz="1400" i="1" baseline="-2500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34" name="文本框 1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52"/>
                    </p:custDataLst>
                  </p:nvPr>
                </p:nvSpPr>
                <p:spPr>
                  <a:xfrm>
                    <a:off x="7427" y="7395"/>
                    <a:ext cx="1247" cy="152"/>
                  </a:xfrm>
                  <a:prstGeom prst="rect">
                    <a:avLst/>
                  </a:prstGeom>
                  <a:blipFill rotWithShape="1">
                    <a:blip r:embed="rId5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2" name="肘形连接符 141"/>
              <p:cNvCxnSpPr>
                <a:endCxn id="176" idx="2"/>
              </p:cNvCxnSpPr>
              <p:nvPr/>
            </p:nvCxnSpPr>
            <p:spPr>
              <a:xfrm>
                <a:off x="5726" y="5443"/>
                <a:ext cx="2407" cy="908"/>
              </a:xfrm>
              <a:prstGeom prst="bentConnector2">
                <a:avLst/>
              </a:prstGeom>
              <a:ln w="15875">
                <a:solidFill>
                  <a:srgbClr val="F5B18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4" name="直接箭头连接符 143"/>
              <p:cNvCxnSpPr/>
              <p:nvPr>
                <p:custDataLst>
                  <p:tags r:id="rId54"/>
                </p:custDataLst>
              </p:nvPr>
            </p:nvCxnSpPr>
            <p:spPr>
              <a:xfrm>
                <a:off x="907" y="6817"/>
                <a:ext cx="680" cy="0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0" name="直接箭头连接符 149"/>
              <p:cNvCxnSpPr/>
              <p:nvPr>
                <p:custDataLst>
                  <p:tags r:id="rId55"/>
                </p:custDataLst>
              </p:nvPr>
            </p:nvCxnSpPr>
            <p:spPr>
              <a:xfrm>
                <a:off x="3012" y="5463"/>
                <a:ext cx="624" cy="12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51" name="文本框 150"/>
              <p:cNvSpPr txBox="1"/>
              <p:nvPr>
                <p:custDataLst>
                  <p:tags r:id="rId56"/>
                </p:custDataLst>
              </p:nvPr>
            </p:nvSpPr>
            <p:spPr>
              <a:xfrm>
                <a:off x="2948" y="5173"/>
                <a:ext cx="2067" cy="386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spAutoFit/>
              </a:bodyPr>
              <a:p>
                <a:r>
                  <a:rPr lang="en-US" altLang="zh-CN" sz="1000">
                    <a:latin typeface="Cambria Math" panose="02040503050406030204" charset="0"/>
                    <a:cs typeface="Cambria Math" panose="02040503050406030204" charset="0"/>
                  </a:rPr>
                  <a:t>FTT</a:t>
                </a:r>
                <a:endParaRPr lang="en-US" altLang="zh-CN" sz="1000" i="1" baseline="-25000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  <p:sp>
            <p:nvSpPr>
              <p:cNvPr id="152" name="立方体 151"/>
              <p:cNvSpPr/>
              <p:nvPr/>
            </p:nvSpPr>
            <p:spPr>
              <a:xfrm>
                <a:off x="2517" y="5030"/>
                <a:ext cx="340" cy="879"/>
              </a:xfrm>
              <a:prstGeom prst="cube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3" name="立方体 152"/>
              <p:cNvSpPr/>
              <p:nvPr/>
            </p:nvSpPr>
            <p:spPr>
              <a:xfrm>
                <a:off x="3798" y="4854"/>
                <a:ext cx="340" cy="1055"/>
              </a:xfrm>
              <a:prstGeom prst="cube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4" name="直接箭头连接符 153"/>
              <p:cNvCxnSpPr/>
              <p:nvPr>
                <p:custDataLst>
                  <p:tags r:id="rId57"/>
                </p:custDataLst>
              </p:nvPr>
            </p:nvCxnSpPr>
            <p:spPr>
              <a:xfrm>
                <a:off x="4252" y="5475"/>
                <a:ext cx="964" cy="12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55" name="文本框 154"/>
              <p:cNvSpPr txBox="1"/>
              <p:nvPr>
                <p:custDataLst>
                  <p:tags r:id="rId58"/>
                </p:custDataLst>
              </p:nvPr>
            </p:nvSpPr>
            <p:spPr>
              <a:xfrm>
                <a:off x="4138" y="5102"/>
                <a:ext cx="2067" cy="395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spAutoFit/>
              </a:bodyPr>
              <a:p>
                <a:r>
                  <a:rPr lang="en-US" altLang="zh-CN" sz="1600" baseline="-25000">
                    <a:latin typeface="Cambria Math" panose="02040503050406030204" charset="0"/>
                    <a:ea typeface="MS Mincho" charset="0"/>
                    <a:cs typeface="Cambria Math" panose="02040503050406030204" charset="0"/>
                  </a:rPr>
                  <a:t>Freq Gate</a:t>
                </a:r>
                <a:endParaRPr lang="en-US" altLang="zh-CN" sz="1600" baseline="-25000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  <p:sp>
            <p:nvSpPr>
              <p:cNvPr id="156" name="立方体 155"/>
              <p:cNvSpPr/>
              <p:nvPr/>
            </p:nvSpPr>
            <p:spPr>
              <a:xfrm>
                <a:off x="5320" y="4946"/>
                <a:ext cx="315" cy="926"/>
              </a:xfrm>
              <a:prstGeom prst="cube">
                <a:avLst>
                  <a:gd name="adj" fmla="val 61059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bIns="71755" rtlCol="0" anchor="ctr"/>
              <a:p>
                <a:pPr algn="ctr"/>
                <a:endParaRPr lang="zh-CN" altLang="en-US"/>
              </a:p>
            </p:txBody>
          </p:sp>
          <p:sp>
            <p:nvSpPr>
              <p:cNvPr id="157" name="立方体 156"/>
              <p:cNvSpPr/>
              <p:nvPr/>
            </p:nvSpPr>
            <p:spPr>
              <a:xfrm>
                <a:off x="2437" y="7650"/>
                <a:ext cx="340" cy="879"/>
              </a:xfrm>
              <a:prstGeom prst="cube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8" name="文本框 157"/>
              <p:cNvSpPr txBox="1"/>
              <p:nvPr>
                <p:custDataLst>
                  <p:tags r:id="rId59"/>
                </p:custDataLst>
              </p:nvPr>
            </p:nvSpPr>
            <p:spPr>
              <a:xfrm>
                <a:off x="2778" y="7777"/>
                <a:ext cx="2067" cy="386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spAutoFit/>
              </a:bodyPr>
              <a:p>
                <a:r>
                  <a:rPr lang="en-US" altLang="zh-CN" sz="1000">
                    <a:latin typeface="Cambria Math" panose="02040503050406030204" charset="0"/>
                    <a:cs typeface="Cambria Math" panose="02040503050406030204" charset="0"/>
                  </a:rPr>
                  <a:t>Dir Conv</a:t>
                </a:r>
                <a:endParaRPr lang="en-US" altLang="zh-CN" sz="100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  <p:cxnSp>
            <p:nvCxnSpPr>
              <p:cNvPr id="159" name="直接箭头连接符 158"/>
              <p:cNvCxnSpPr/>
              <p:nvPr>
                <p:custDataLst>
                  <p:tags r:id="rId60"/>
                </p:custDataLst>
              </p:nvPr>
            </p:nvCxnSpPr>
            <p:spPr>
              <a:xfrm>
                <a:off x="2835" y="8121"/>
                <a:ext cx="964" cy="12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0" name="立方体 159"/>
              <p:cNvSpPr/>
              <p:nvPr/>
            </p:nvSpPr>
            <p:spPr>
              <a:xfrm>
                <a:off x="5386" y="7621"/>
                <a:ext cx="315" cy="926"/>
              </a:xfrm>
              <a:prstGeom prst="cube">
                <a:avLst>
                  <a:gd name="adj" fmla="val 61059"/>
                </a:avLst>
              </a:prstGeom>
              <a:solidFill>
                <a:srgbClr val="92D050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bIns="71755" rtlCol="0" anchor="ctr"/>
              <a:p>
                <a:pPr algn="ctr"/>
                <a:endParaRPr lang="zh-CN" altLang="en-US"/>
              </a:p>
            </p:txBody>
          </p:sp>
          <p:sp>
            <p:nvSpPr>
              <p:cNvPr id="161" name="文本框 160"/>
              <p:cNvSpPr txBox="1"/>
              <p:nvPr>
                <p:custDataLst>
                  <p:tags r:id="rId61"/>
                </p:custDataLst>
              </p:nvPr>
            </p:nvSpPr>
            <p:spPr>
              <a:xfrm>
                <a:off x="4252" y="7806"/>
                <a:ext cx="2067" cy="386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spAutoFit/>
              </a:bodyPr>
              <a:p>
                <a:r>
                  <a:rPr lang="en-US" altLang="zh-CN" sz="1000">
                    <a:latin typeface="Cambria Math" panose="02040503050406030204" charset="0"/>
                    <a:cs typeface="Cambria Math" panose="02040503050406030204" charset="0"/>
                  </a:rPr>
                  <a:t>1x1 </a:t>
                </a:r>
                <a:r>
                  <a:rPr lang="en-US" altLang="zh-CN" sz="1000">
                    <a:latin typeface="Cambria Math" panose="02040503050406030204" charset="0"/>
                    <a:cs typeface="Cambria Math" panose="02040503050406030204" charset="0"/>
                  </a:rPr>
                  <a:t>Conv</a:t>
                </a:r>
                <a:endParaRPr lang="en-US" altLang="zh-CN" sz="100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  <p:sp>
            <p:nvSpPr>
              <p:cNvPr id="162" name="立方体 161"/>
              <p:cNvSpPr/>
              <p:nvPr/>
            </p:nvSpPr>
            <p:spPr>
              <a:xfrm>
                <a:off x="3912" y="7668"/>
                <a:ext cx="340" cy="879"/>
              </a:xfrm>
              <a:prstGeom prst="cube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3" name="立方体 162"/>
              <p:cNvSpPr/>
              <p:nvPr/>
            </p:nvSpPr>
            <p:spPr>
              <a:xfrm>
                <a:off x="7963" y="7599"/>
                <a:ext cx="315" cy="926"/>
              </a:xfrm>
              <a:prstGeom prst="cube">
                <a:avLst>
                  <a:gd name="adj" fmla="val 61059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bIns="71755"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4" name="直接箭头连接符 163"/>
              <p:cNvCxnSpPr/>
              <p:nvPr>
                <p:custDataLst>
                  <p:tags r:id="rId62"/>
                </p:custDataLst>
              </p:nvPr>
            </p:nvCxnSpPr>
            <p:spPr>
              <a:xfrm>
                <a:off x="4356" y="8180"/>
                <a:ext cx="964" cy="12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5" name="直接箭头连接符 164"/>
              <p:cNvCxnSpPr/>
              <p:nvPr>
                <p:custDataLst>
                  <p:tags r:id="rId63"/>
                </p:custDataLst>
              </p:nvPr>
            </p:nvCxnSpPr>
            <p:spPr>
              <a:xfrm>
                <a:off x="5783" y="8191"/>
                <a:ext cx="964" cy="12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6" name="文本框 165"/>
              <p:cNvSpPr txBox="1"/>
              <p:nvPr>
                <p:custDataLst>
                  <p:tags r:id="rId64"/>
                </p:custDataLst>
              </p:nvPr>
            </p:nvSpPr>
            <p:spPr>
              <a:xfrm>
                <a:off x="5726" y="7824"/>
                <a:ext cx="2067" cy="386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spAutoFit/>
              </a:bodyPr>
              <a:p>
                <a:r>
                  <a:rPr lang="en-US" altLang="zh-CN" sz="1000">
                    <a:latin typeface="Cambria Math" panose="02040503050406030204" charset="0"/>
                    <a:cs typeface="Cambria Math" panose="02040503050406030204" charset="0"/>
                  </a:rPr>
                  <a:t>Attn Map</a:t>
                </a:r>
                <a:endParaRPr lang="en-US" altLang="zh-CN" sz="100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  <p:sp>
            <p:nvSpPr>
              <p:cNvPr id="170" name="椭圆 169"/>
              <p:cNvSpPr/>
              <p:nvPr/>
            </p:nvSpPr>
            <p:spPr>
              <a:xfrm>
                <a:off x="6811" y="8012"/>
                <a:ext cx="340" cy="34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71" name="直接连接符 170"/>
              <p:cNvCxnSpPr>
                <a:stCxn id="170" idx="1"/>
                <a:endCxn id="170" idx="5"/>
              </p:cNvCxnSpPr>
              <p:nvPr/>
            </p:nvCxnSpPr>
            <p:spPr>
              <a:xfrm>
                <a:off x="6861" y="8062"/>
                <a:ext cx="240" cy="2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2" name="直接连接符 171"/>
              <p:cNvCxnSpPr>
                <a:stCxn id="170" idx="7"/>
                <a:endCxn id="170" idx="3"/>
              </p:cNvCxnSpPr>
              <p:nvPr/>
            </p:nvCxnSpPr>
            <p:spPr>
              <a:xfrm flipH="1">
                <a:off x="6861" y="8062"/>
                <a:ext cx="240" cy="2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3" name="肘形连接符 172"/>
              <p:cNvCxnSpPr>
                <a:endCxn id="170" idx="0"/>
              </p:cNvCxnSpPr>
              <p:nvPr/>
            </p:nvCxnSpPr>
            <p:spPr>
              <a:xfrm>
                <a:off x="2268" y="6917"/>
                <a:ext cx="4713" cy="1039"/>
              </a:xfrm>
              <a:prstGeom prst="bentConnector2">
                <a:avLst/>
              </a:prstGeom>
              <a:ln w="15875">
                <a:solidFill>
                  <a:srgbClr val="0070C0"/>
                </a:solidFill>
                <a:prstDash val="sysDot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5" name="文本框 174"/>
              <p:cNvSpPr txBox="1"/>
              <p:nvPr>
                <p:custDataLst>
                  <p:tags r:id="rId65"/>
                </p:custDataLst>
              </p:nvPr>
            </p:nvSpPr>
            <p:spPr>
              <a:xfrm>
                <a:off x="1703" y="9241"/>
                <a:ext cx="8850" cy="434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spAutoFit/>
              </a:bodyPr>
              <a:p>
                <a:r>
                  <a:rPr lang="en-US" altLang="zh-CN" sz="1200" i="1">
                    <a:latin typeface="Cambria Math" panose="02040503050406030204" charset="0"/>
                    <a:cs typeface="Cambria Math" panose="02040503050406030204" charset="0"/>
                  </a:rPr>
                  <a:t>FGM Block: Frequency Gate + Directional Attention + Residual Fusion</a:t>
                </a:r>
                <a:endParaRPr lang="en-US" altLang="zh-CN" sz="1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  <p:sp>
            <p:nvSpPr>
              <p:cNvPr id="176" name="椭圆 175"/>
              <p:cNvSpPr/>
              <p:nvPr/>
            </p:nvSpPr>
            <p:spPr>
              <a:xfrm rot="5400000">
                <a:off x="7963" y="6463"/>
                <a:ext cx="340" cy="34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79" name="直接连接符 178"/>
              <p:cNvCxnSpPr/>
              <p:nvPr/>
            </p:nvCxnSpPr>
            <p:spPr>
              <a:xfrm rot="10800000">
                <a:off x="8133" y="6463"/>
                <a:ext cx="0" cy="3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 rot="5400000">
                <a:off x="8133" y="6463"/>
                <a:ext cx="0" cy="3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3" name="直接箭头连接符 182"/>
              <p:cNvCxnSpPr/>
              <p:nvPr>
                <p:custDataLst>
                  <p:tags r:id="rId66"/>
                </p:custDataLst>
              </p:nvPr>
            </p:nvCxnSpPr>
            <p:spPr>
              <a:xfrm>
                <a:off x="7201" y="8197"/>
                <a:ext cx="680" cy="12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4" name="直接箭头连接符 183"/>
              <p:cNvCxnSpPr/>
              <p:nvPr>
                <p:custDataLst>
                  <p:tags r:id="rId67"/>
                </p:custDataLst>
              </p:nvPr>
            </p:nvCxnSpPr>
            <p:spPr>
              <a:xfrm rot="16200000">
                <a:off x="7793" y="7214"/>
                <a:ext cx="680" cy="0"/>
              </a:xfrm>
              <a:prstGeom prst="straightConnector1">
                <a:avLst/>
              </a:prstGeom>
              <a:ln w="19050">
                <a:solidFill>
                  <a:srgbClr val="FFC514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6" name="文本框 185"/>
                  <p:cNvSpPr txBox="1"/>
                  <p:nvPr>
                    <p:custDataLst>
                      <p:tags r:id="rId68"/>
                    </p:custDataLst>
                  </p:nvPr>
                </p:nvSpPr>
                <p:spPr>
                  <a:xfrm>
                    <a:off x="4142" y="6576"/>
                    <a:ext cx="1247" cy="15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Autofit/>
                  </a:bodyPr>
                  <a:p>
                    <a:r>
                      <a:rPr lang="en-US" sz="1000">
                        <a:latin typeface="Cambria Math" panose="02040503050406030204" charset="0"/>
                        <a:cs typeface="Cambria Math" panose="02040503050406030204" charset="0"/>
                      </a:rPr>
                      <a:t>Input </a:t>
                    </a:r>
                    <a:r>
                      <a:rPr sz="1000">
                        <a:latin typeface="Cambria Math" panose="02040503050406030204" charset="0"/>
                        <a:cs typeface="Cambria Math" panose="02040503050406030204" charset="0"/>
                      </a:rPr>
                      <a:t>X</a:t>
                    </a:r>
                    <a14:m>
                      <m:oMath xmlns:m="http://schemas.openxmlformats.org/officeDocument/2006/math">
                        <m:r>
                          <a:rPr lang="en-US" altLang="zh-CN" sz="10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 </m:t>
                        </m:r>
                      </m:oMath>
                    </a14:m>
                    <a:endParaRPr lang="en-US" altLang="zh-CN" sz="1400" i="1" baseline="-2500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86" name="文本框 18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69"/>
                    </p:custDataLst>
                  </p:nvPr>
                </p:nvSpPr>
                <p:spPr>
                  <a:xfrm>
                    <a:off x="4142" y="6576"/>
                    <a:ext cx="1247" cy="152"/>
                  </a:xfrm>
                  <a:prstGeom prst="rect">
                    <a:avLst/>
                  </a:prstGeom>
                  <a:blipFill rotWithShape="1">
                    <a:blip r:embed="rId7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8" name="文本框 187"/>
              <p:cNvSpPr txBox="1"/>
              <p:nvPr>
                <p:custDataLst>
                  <p:tags r:id="rId71"/>
                </p:custDataLst>
              </p:nvPr>
            </p:nvSpPr>
            <p:spPr>
              <a:xfrm>
                <a:off x="6205" y="5345"/>
                <a:ext cx="1247" cy="152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Autofit/>
              </a:bodyPr>
              <a:p>
                <a:r>
                  <a:rPr lang="en-US" altLang="zh-CN" sz="1600" baseline="-25000">
                    <a:latin typeface="Cambria Math" panose="02040503050406030204" charset="0"/>
                    <a:ea typeface="MS Mincho" charset="0"/>
                    <a:cs typeface="Cambria Math" panose="02040503050406030204" charset="0"/>
                  </a:rPr>
                  <a:t>X_freq</a:t>
                </a:r>
                <a:endParaRPr lang="en-US" altLang="zh-CN" sz="1600" baseline="-25000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  <p:cxnSp>
            <p:nvCxnSpPr>
              <p:cNvPr id="189" name="直接箭头连接符 188"/>
              <p:cNvCxnSpPr/>
              <p:nvPr/>
            </p:nvCxnSpPr>
            <p:spPr>
              <a:xfrm flipV="1">
                <a:off x="2211" y="6599"/>
                <a:ext cx="5698" cy="0"/>
              </a:xfrm>
              <a:prstGeom prst="straightConnector1">
                <a:avLst/>
              </a:prstGeom>
              <a:ln w="15875">
                <a:solidFill>
                  <a:srgbClr val="F5B18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91" name="立方体 190"/>
              <p:cNvSpPr/>
              <p:nvPr/>
            </p:nvSpPr>
            <p:spPr>
              <a:xfrm>
                <a:off x="8788" y="6299"/>
                <a:ext cx="315" cy="926"/>
              </a:xfrm>
              <a:prstGeom prst="cube">
                <a:avLst>
                  <a:gd name="adj" fmla="val 61059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bIns="71755"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92" name="直接箭头连接符 191"/>
              <p:cNvCxnSpPr/>
              <p:nvPr>
                <p:custDataLst>
                  <p:tags r:id="rId72"/>
                </p:custDataLst>
              </p:nvPr>
            </p:nvCxnSpPr>
            <p:spPr>
              <a:xfrm>
                <a:off x="8350" y="6646"/>
                <a:ext cx="397" cy="0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3" name="文本框 192"/>
                  <p:cNvSpPr txBox="1"/>
                  <p:nvPr>
                    <p:custDataLst>
                      <p:tags r:id="rId73"/>
                    </p:custDataLst>
                  </p:nvPr>
                </p:nvSpPr>
                <p:spPr>
                  <a:xfrm>
                    <a:off x="8441" y="7030"/>
                    <a:ext cx="1132" cy="61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Autofit/>
                  </a:bodyPr>
                  <a:p>
                    <a:r>
                      <a:rPr lang="en-US" altLang="zh-CN" sz="1000">
                        <a:latin typeface="Cambria Math" panose="02040503050406030204" charset="0"/>
                        <a:cs typeface="Cambria Math" panose="02040503050406030204" charset="0"/>
                      </a:rPr>
                      <a:t>Output</a:t>
                    </a:r>
                    <a14:m>
                      <m:oMath xmlns:m="http://schemas.openxmlformats.org/officeDocument/2006/math">
                        <m:r>
                          <a:rPr lang="en-US" altLang="zh-CN" sz="10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 </m:t>
                        </m:r>
                        <m:r>
                          <a:rPr lang="en-US" altLang="zh-CN" sz="10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𝑋</m:t>
                        </m:r>
                        <m:r>
                          <a:rPr lang="en-US" altLang="zh-CN" sz="1000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</m:oMath>
                    </a14:m>
                    <a:endParaRPr lang="en-US" altLang="zh-CN" sz="1000" i="1" baseline="-250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n-lt"/>
                      <a:ea typeface="+mn-ea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93" name="文本框 1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74"/>
                    </p:custDataLst>
                  </p:nvPr>
                </p:nvSpPr>
                <p:spPr>
                  <a:xfrm>
                    <a:off x="8441" y="7030"/>
                    <a:ext cx="1132" cy="611"/>
                  </a:xfrm>
                  <a:prstGeom prst="rect">
                    <a:avLst/>
                  </a:prstGeom>
                  <a:blipFill rotWithShape="1">
                    <a:blip r:embed="rId7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4" name="直接箭头连接符 193"/>
              <p:cNvCxnSpPr/>
              <p:nvPr>
                <p:custDataLst>
                  <p:tags r:id="rId76"/>
                </p:custDataLst>
              </p:nvPr>
            </p:nvCxnSpPr>
            <p:spPr>
              <a:xfrm>
                <a:off x="9574" y="6803"/>
                <a:ext cx="624" cy="0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-4457065" y="548640"/>
            <a:ext cx="13959840" cy="4620895"/>
            <a:chOff x="-7019" y="864"/>
            <a:chExt cx="21984" cy="7277"/>
          </a:xfrm>
        </p:grpSpPr>
        <p:grpSp>
          <p:nvGrpSpPr>
            <p:cNvPr id="4" name="组合 3"/>
            <p:cNvGrpSpPr/>
            <p:nvPr/>
          </p:nvGrpSpPr>
          <p:grpSpPr>
            <a:xfrm rot="0">
              <a:off x="-6975" y="864"/>
              <a:ext cx="21237" cy="6236"/>
              <a:chOff x="-4648" y="1642"/>
              <a:chExt cx="21237" cy="6236"/>
            </a:xfrm>
          </p:grpSpPr>
          <p:sp>
            <p:nvSpPr>
              <p:cNvPr id="6" name="立方体 5"/>
              <p:cNvSpPr/>
              <p:nvPr/>
            </p:nvSpPr>
            <p:spPr>
              <a:xfrm>
                <a:off x="217" y="4171"/>
                <a:ext cx="2727" cy="887"/>
              </a:xfrm>
              <a:prstGeom prst="cube">
                <a:avLst>
                  <a:gd name="adj" fmla="val 7814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" name="立方体 6"/>
              <p:cNvSpPr/>
              <p:nvPr/>
            </p:nvSpPr>
            <p:spPr>
              <a:xfrm>
                <a:off x="-98" y="6180"/>
                <a:ext cx="3409" cy="1109"/>
              </a:xfrm>
              <a:prstGeom prst="cube">
                <a:avLst>
                  <a:gd name="adj" fmla="val 7814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" name="立方体 7"/>
              <p:cNvSpPr/>
              <p:nvPr/>
            </p:nvSpPr>
            <p:spPr>
              <a:xfrm>
                <a:off x="713" y="2385"/>
                <a:ext cx="2045" cy="665"/>
              </a:xfrm>
              <a:prstGeom prst="cube">
                <a:avLst>
                  <a:gd name="adj" fmla="val 7814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2" name="肘形连接符 11"/>
              <p:cNvCxnSpPr/>
              <p:nvPr/>
            </p:nvCxnSpPr>
            <p:spPr>
              <a:xfrm>
                <a:off x="-1647" y="1936"/>
                <a:ext cx="3357" cy="621"/>
              </a:xfrm>
              <a:prstGeom prst="bentConnector3">
                <a:avLst>
                  <a:gd name="adj1" fmla="val 99898"/>
                </a:avLst>
              </a:prstGeom>
              <a:ln w="19050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/>
              <p:cNvCxnSpPr/>
              <p:nvPr/>
            </p:nvCxnSpPr>
            <p:spPr>
              <a:xfrm>
                <a:off x="-1260" y="3674"/>
                <a:ext cx="284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/>
              <p:cNvCxnSpPr/>
              <p:nvPr/>
            </p:nvCxnSpPr>
            <p:spPr>
              <a:xfrm>
                <a:off x="-1001" y="5619"/>
                <a:ext cx="258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/>
              <p:cNvCxnSpPr/>
              <p:nvPr/>
            </p:nvCxnSpPr>
            <p:spPr>
              <a:xfrm>
                <a:off x="1709" y="3053"/>
                <a:ext cx="0" cy="149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/>
              <p:cNvCxnSpPr/>
              <p:nvPr/>
            </p:nvCxnSpPr>
            <p:spPr>
              <a:xfrm>
                <a:off x="1709" y="5058"/>
                <a:ext cx="0" cy="149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0" name="立方体 19"/>
              <p:cNvSpPr/>
              <p:nvPr/>
            </p:nvSpPr>
            <p:spPr>
              <a:xfrm>
                <a:off x="-3987" y="3302"/>
                <a:ext cx="2727" cy="887"/>
              </a:xfrm>
              <a:prstGeom prst="cube">
                <a:avLst>
                  <a:gd name="adj" fmla="val 7814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" name="立方体 20"/>
              <p:cNvSpPr/>
              <p:nvPr/>
            </p:nvSpPr>
            <p:spPr>
              <a:xfrm>
                <a:off x="-4284" y="5062"/>
                <a:ext cx="3409" cy="1109"/>
              </a:xfrm>
              <a:prstGeom prst="cube">
                <a:avLst>
                  <a:gd name="adj" fmla="val 7814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" name="立方体 21"/>
              <p:cNvSpPr/>
              <p:nvPr/>
            </p:nvSpPr>
            <p:spPr>
              <a:xfrm>
                <a:off x="-3711" y="1642"/>
                <a:ext cx="2045" cy="665"/>
              </a:xfrm>
              <a:prstGeom prst="cube">
                <a:avLst>
                  <a:gd name="adj" fmla="val 7814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3" name="直接连接符 22"/>
              <p:cNvCxnSpPr/>
              <p:nvPr/>
            </p:nvCxnSpPr>
            <p:spPr>
              <a:xfrm flipV="1">
                <a:off x="-2809" y="4170"/>
                <a:ext cx="0" cy="136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 flipV="1">
                <a:off x="-2809" y="2307"/>
                <a:ext cx="0" cy="136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6" name="平行四边形 25"/>
              <p:cNvSpPr/>
              <p:nvPr/>
            </p:nvSpPr>
            <p:spPr>
              <a:xfrm>
                <a:off x="-4648" y="6779"/>
                <a:ext cx="3647" cy="1099"/>
              </a:xfrm>
              <a:prstGeom prst="parallelogram">
                <a:avLst>
                  <a:gd name="adj" fmla="val 93828"/>
                </a:avLst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7" name="直接连接符 26"/>
              <p:cNvCxnSpPr/>
              <p:nvPr/>
            </p:nvCxnSpPr>
            <p:spPr>
              <a:xfrm flipV="1">
                <a:off x="-2809" y="6158"/>
                <a:ext cx="0" cy="994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/>
              <p:cNvCxnSpPr>
                <a:endCxn id="30" idx="1"/>
              </p:cNvCxnSpPr>
              <p:nvPr>
                <p:custDataLst>
                  <p:tags r:id="rId3"/>
                </p:custDataLst>
              </p:nvPr>
            </p:nvCxnSpPr>
            <p:spPr>
              <a:xfrm flipV="1">
                <a:off x="2835" y="2680"/>
                <a:ext cx="1191" cy="16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0" name="矩形 29"/>
              <p:cNvSpPr/>
              <p:nvPr>
                <p:custDataLst>
                  <p:tags r:id="rId4"/>
                </p:custDataLst>
              </p:nvPr>
            </p:nvSpPr>
            <p:spPr>
              <a:xfrm>
                <a:off x="4152" y="2369"/>
                <a:ext cx="1679" cy="621"/>
              </a:xfrm>
              <a:prstGeom prst="rect">
                <a:avLst/>
              </a:prstGeom>
              <a:solidFill>
                <a:srgbClr val="F5B1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Head</a:t>
                </a:r>
                <a:endParaRPr lang="en-US" altLang="zh-CN" sz="160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cxnSp>
            <p:nvCxnSpPr>
              <p:cNvPr id="31" name="直接箭头连接符 30"/>
              <p:cNvCxnSpPr/>
              <p:nvPr>
                <p:custDataLst>
                  <p:tags r:id="rId5"/>
                </p:custDataLst>
              </p:nvPr>
            </p:nvCxnSpPr>
            <p:spPr>
              <a:xfrm>
                <a:off x="2987" y="4674"/>
                <a:ext cx="1046" cy="12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2" name="矩形 31"/>
              <p:cNvSpPr/>
              <p:nvPr>
                <p:custDataLst>
                  <p:tags r:id="rId6"/>
                </p:custDataLst>
              </p:nvPr>
            </p:nvSpPr>
            <p:spPr>
              <a:xfrm>
                <a:off x="4138" y="4329"/>
                <a:ext cx="1679" cy="621"/>
              </a:xfrm>
              <a:prstGeom prst="rect">
                <a:avLst/>
              </a:prstGeom>
              <a:solidFill>
                <a:srgbClr val="F5B1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Head</a:t>
                </a:r>
                <a:endParaRPr lang="en-US" altLang="zh-CN" sz="160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4" name="矩形 33"/>
              <p:cNvSpPr/>
              <p:nvPr>
                <p:custDataLst>
                  <p:tags r:id="rId7"/>
                </p:custDataLst>
              </p:nvPr>
            </p:nvSpPr>
            <p:spPr>
              <a:xfrm>
                <a:off x="4144" y="6471"/>
                <a:ext cx="1688" cy="621"/>
              </a:xfrm>
              <a:prstGeom prst="rect">
                <a:avLst/>
              </a:prstGeom>
              <a:solidFill>
                <a:srgbClr val="F5B1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Head</a:t>
                </a:r>
                <a:endParaRPr lang="en-US" altLang="zh-CN" sz="160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文本框 34"/>
                  <p:cNvSpPr txBox="1"/>
                  <p:nvPr/>
                </p:nvSpPr>
                <p:spPr>
                  <a:xfrm>
                    <a:off x="568" y="2478"/>
                    <a:ext cx="1142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L</m:t>
                          </m:r>
                          <m:r>
                            <a:rPr lang="en-US" altLang="zh-CN" sz="1400" baseline="-2500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0</m:t>
                          </m:r>
                        </m:oMath>
                      </m:oMathPara>
                    </a14:m>
                    <a:endParaRPr lang="en-US" altLang="zh-CN" sz="1400" baseline="-2500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35" name="文本框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" y="2478"/>
                    <a:ext cx="1142" cy="483"/>
                  </a:xfrm>
                  <a:prstGeom prst="rect">
                    <a:avLst/>
                  </a:prstGeom>
                  <a:blipFill rotWithShape="1">
                    <a:blip r:embed="rId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7" name="文本框 36"/>
                  <p:cNvSpPr txBox="1"/>
                  <p:nvPr/>
                </p:nvSpPr>
                <p:spPr>
                  <a:xfrm>
                    <a:off x="32" y="6486"/>
                    <a:ext cx="1142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L</m:t>
                          </m:r>
                          <m:r>
                            <a:rPr lang="en-US" altLang="zh-CN" sz="1400" baseline="-2500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oMath>
                      </m:oMathPara>
                    </a14:m>
                    <a:endParaRPr lang="en-US" altLang="zh-CN" sz="1400" baseline="-2500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37" name="文本框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" y="6486"/>
                    <a:ext cx="1142" cy="483"/>
                  </a:xfrm>
                  <a:prstGeom prst="rect">
                    <a:avLst/>
                  </a:prstGeom>
                  <a:blipFill rotWithShape="1">
                    <a:blip r:embed="rId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文本框 37"/>
                  <p:cNvSpPr txBox="1"/>
                  <p:nvPr/>
                </p:nvSpPr>
                <p:spPr>
                  <a:xfrm>
                    <a:off x="217" y="4329"/>
                    <a:ext cx="1142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L</m:t>
                          </m:r>
                          <m:r>
                            <a:rPr lang="en-US" altLang="zh-CN" sz="1400" baseline="-2500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oMath>
                      </m:oMathPara>
                    </a14:m>
                    <a:endParaRPr lang="en-US" altLang="zh-CN" sz="1400" baseline="-2500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38" name="文本框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" y="4329"/>
                    <a:ext cx="1142" cy="483"/>
                  </a:xfrm>
                  <a:prstGeom prst="rect">
                    <a:avLst/>
                  </a:prstGeom>
                  <a:blipFill rotWithShape="1">
                    <a:blip r:embed="rId1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直接箭头连接符 38"/>
              <p:cNvCxnSpPr/>
              <p:nvPr>
                <p:custDataLst>
                  <p:tags r:id="rId11"/>
                </p:custDataLst>
              </p:nvPr>
            </p:nvCxnSpPr>
            <p:spPr>
              <a:xfrm>
                <a:off x="4789" y="1933"/>
                <a:ext cx="0" cy="38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文本框 39"/>
                  <p:cNvSpPr txBox="1"/>
                  <p:nvPr>
                    <p:custDataLst>
                      <p:tags r:id="rId12"/>
                    </p:custDataLst>
                  </p:nvPr>
                </p:nvSpPr>
                <p:spPr>
                  <a:xfrm>
                    <a:off x="4563" y="1887"/>
                    <a:ext cx="1085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lang="en-US" altLang="zh-CN" sz="1400" i="1" baseline="-2500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0</m:t>
                          </m:r>
                        </m:oMath>
                      </m:oMathPara>
                    </a14:m>
                    <a:endParaRPr lang="en-US" altLang="zh-CN" sz="1400" i="1" baseline="-2500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40" name="文本框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3"/>
                    </p:custDataLst>
                  </p:nvPr>
                </p:nvSpPr>
                <p:spPr>
                  <a:xfrm>
                    <a:off x="4563" y="1887"/>
                    <a:ext cx="1085" cy="483"/>
                  </a:xfrm>
                  <a:prstGeom prst="rect">
                    <a:avLst/>
                  </a:prstGeom>
                  <a:blipFill rotWithShape="1">
                    <a:blip r:embed="rId1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1" name="曲线连接符 40"/>
              <p:cNvCxnSpPr/>
              <p:nvPr>
                <p:custDataLst>
                  <p:tags r:id="rId15"/>
                </p:custDataLst>
              </p:nvPr>
            </p:nvCxnSpPr>
            <p:spPr>
              <a:xfrm rot="10800000" flipV="1">
                <a:off x="2095" y="3002"/>
                <a:ext cx="2895" cy="1614"/>
              </a:xfrm>
              <a:prstGeom prst="curvedConnector3">
                <a:avLst>
                  <a:gd name="adj1" fmla="val 49983"/>
                </a:avLst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2" name="曲线连接符 41"/>
              <p:cNvCxnSpPr/>
              <p:nvPr>
                <p:custDataLst>
                  <p:tags r:id="rId16"/>
                </p:custDataLst>
              </p:nvPr>
            </p:nvCxnSpPr>
            <p:spPr>
              <a:xfrm rot="10800000" flipV="1">
                <a:off x="2205" y="4930"/>
                <a:ext cx="2786" cy="1626"/>
              </a:xfrm>
              <a:prstGeom prst="curvedConnector3">
                <a:avLst>
                  <a:gd name="adj1" fmla="val 49964"/>
                </a:avLst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3" name="文本框 42"/>
                  <p:cNvSpPr txBox="1"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1966" y="3803"/>
                    <a:ext cx="206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spAutoFit/>
                  </a:bodyPr>
                  <a:p>
                    <a:r>
                      <a:rPr lang="en-US" altLang="zh-CN" sz="1400">
                        <a:latin typeface="Cambria Math" panose="02040503050406030204" charset="0"/>
                        <a:cs typeface="Cambria Math" panose="02040503050406030204" charset="0"/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</a:rPr>
                          <m:t>efined</m:t>
                        </m:r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  <m:r>
                          <a:rPr lang="en-US" altLang="zh-CN" sz="1400" i="1" baseline="-250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0</m:t>
                        </m:r>
                      </m:oMath>
                    </a14:m>
                    <a:endParaRPr lang="en-US" altLang="zh-CN" sz="1400" i="1" baseline="-2500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43" name="文本框 4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1966" y="3803"/>
                    <a:ext cx="2067" cy="483"/>
                  </a:xfrm>
                  <a:prstGeom prst="rect">
                    <a:avLst/>
                  </a:prstGeom>
                  <a:blipFill rotWithShape="1">
                    <a:blip r:embed="rId1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4" name="文本框 43"/>
                  <p:cNvSpPr txBox="1"/>
                  <p:nvPr>
                    <p:custDataLst>
                      <p:tags r:id="rId20"/>
                    </p:custDataLst>
                  </p:nvPr>
                </p:nvSpPr>
                <p:spPr>
                  <a:xfrm>
                    <a:off x="1930" y="5724"/>
                    <a:ext cx="206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spAutoFit/>
                  </a:bodyPr>
                  <a:p>
                    <a:r>
                      <a:rPr lang="en-US" altLang="zh-CN" sz="1400">
                        <a:latin typeface="Cambria Math" panose="02040503050406030204" charset="0"/>
                        <a:cs typeface="Cambria Math" panose="02040503050406030204" charset="0"/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</a:rPr>
                          <m:t>efined</m:t>
                        </m:r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  <m:r>
                          <a:rPr lang="en-US" altLang="zh-CN" sz="1400" i="1" baseline="-250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</m:t>
                        </m:r>
                      </m:oMath>
                    </a14:m>
                    <a:endParaRPr lang="en-US" altLang="zh-CN" sz="1400" i="1" baseline="-2500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44" name="文本框 4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21"/>
                    </p:custDataLst>
                  </p:nvPr>
                </p:nvSpPr>
                <p:spPr>
                  <a:xfrm>
                    <a:off x="1930" y="5724"/>
                    <a:ext cx="2067" cy="483"/>
                  </a:xfrm>
                  <a:prstGeom prst="rect">
                    <a:avLst/>
                  </a:prstGeom>
                  <a:blipFill rotWithShape="1">
                    <a:blip r:embed="rId2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7" name="直接箭头连接符 46"/>
              <p:cNvCxnSpPr/>
              <p:nvPr>
                <p:custDataLst>
                  <p:tags r:id="rId23"/>
                </p:custDataLst>
              </p:nvPr>
            </p:nvCxnSpPr>
            <p:spPr>
              <a:xfrm>
                <a:off x="3006" y="6806"/>
                <a:ext cx="1046" cy="12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1" name="圆角矩形 50"/>
              <p:cNvSpPr/>
              <p:nvPr>
                <p:custDataLst>
                  <p:tags r:id="rId24"/>
                </p:custDataLst>
              </p:nvPr>
            </p:nvSpPr>
            <p:spPr>
              <a:xfrm>
                <a:off x="6717" y="2494"/>
                <a:ext cx="7013" cy="4564"/>
              </a:xfrm>
              <a:prstGeom prst="roundRect">
                <a:avLst/>
              </a:prstGeom>
              <a:noFill/>
              <a:ln w="31750">
                <a:solidFill>
                  <a:srgbClr val="FFC514"/>
                </a:solidFill>
                <a:prstDash val="sys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" name="立方体 51"/>
              <p:cNvSpPr/>
              <p:nvPr>
                <p:custDataLst>
                  <p:tags r:id="rId25"/>
                </p:custDataLst>
              </p:nvPr>
            </p:nvSpPr>
            <p:spPr>
              <a:xfrm>
                <a:off x="7267" y="2757"/>
                <a:ext cx="631" cy="1851"/>
              </a:xfrm>
              <a:prstGeom prst="cube">
                <a:avLst>
                  <a:gd name="adj" fmla="val 61059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" name="立方体 52"/>
              <p:cNvSpPr/>
              <p:nvPr>
                <p:custDataLst>
                  <p:tags r:id="rId26"/>
                </p:custDataLst>
              </p:nvPr>
            </p:nvSpPr>
            <p:spPr>
              <a:xfrm>
                <a:off x="9308" y="3127"/>
                <a:ext cx="379" cy="1111"/>
              </a:xfrm>
              <a:prstGeom prst="cube">
                <a:avLst>
                  <a:gd name="adj" fmla="val 61059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4" name="立方体 53"/>
              <p:cNvSpPr/>
              <p:nvPr>
                <p:custDataLst>
                  <p:tags r:id="rId27"/>
                </p:custDataLst>
              </p:nvPr>
            </p:nvSpPr>
            <p:spPr>
              <a:xfrm>
                <a:off x="11060" y="3126"/>
                <a:ext cx="340" cy="1112"/>
              </a:xfrm>
              <a:prstGeom prst="cub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5" name="立方体 54"/>
              <p:cNvSpPr/>
              <p:nvPr>
                <p:custDataLst>
                  <p:tags r:id="rId28"/>
                </p:custDataLst>
              </p:nvPr>
            </p:nvSpPr>
            <p:spPr>
              <a:xfrm>
                <a:off x="8174" y="5107"/>
                <a:ext cx="340" cy="1342"/>
              </a:xfrm>
              <a:prstGeom prst="cube">
                <a:avLst/>
              </a:prstGeom>
              <a:solidFill>
                <a:srgbClr val="F5B183">
                  <a:alpha val="97000"/>
                </a:srgb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" name="立方体 55"/>
              <p:cNvSpPr/>
              <p:nvPr>
                <p:custDataLst>
                  <p:tags r:id="rId29"/>
                </p:custDataLst>
              </p:nvPr>
            </p:nvSpPr>
            <p:spPr>
              <a:xfrm>
                <a:off x="9347" y="5119"/>
                <a:ext cx="340" cy="1318"/>
              </a:xfrm>
              <a:prstGeom prst="cube">
                <a:avLst/>
              </a:prstGeom>
              <a:solidFill>
                <a:srgbClr val="F5B183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7" name="立方体 56"/>
              <p:cNvSpPr/>
              <p:nvPr>
                <p:custDataLst>
                  <p:tags r:id="rId30"/>
                </p:custDataLst>
              </p:nvPr>
            </p:nvSpPr>
            <p:spPr>
              <a:xfrm>
                <a:off x="10215" y="5638"/>
                <a:ext cx="340" cy="799"/>
              </a:xfrm>
              <a:prstGeom prst="cube">
                <a:avLst/>
              </a:prstGeom>
              <a:solidFill>
                <a:srgbClr val="F5B183">
                  <a:alpha val="97000"/>
                </a:srgb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58" name="直接箭头连接符 57"/>
              <p:cNvCxnSpPr/>
              <p:nvPr>
                <p:custDataLst>
                  <p:tags r:id="rId31"/>
                </p:custDataLst>
              </p:nvPr>
            </p:nvCxnSpPr>
            <p:spPr>
              <a:xfrm>
                <a:off x="8004" y="3756"/>
                <a:ext cx="1134" cy="12"/>
              </a:xfrm>
              <a:prstGeom prst="straightConnector1">
                <a:avLst/>
              </a:prstGeom>
              <a:ln w="15875">
                <a:solidFill>
                  <a:srgbClr val="F5B18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9" name="文本框 58"/>
                  <p:cNvSpPr txBox="1"/>
                  <p:nvPr>
                    <p:custDataLst>
                      <p:tags r:id="rId32"/>
                    </p:custDataLst>
                  </p:nvPr>
                </p:nvSpPr>
                <p:spPr>
                  <a:xfrm>
                    <a:off x="8061" y="3423"/>
                    <a:ext cx="2067" cy="41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spAutoFit/>
                  </a:bodyPr>
                  <a:p>
                    <a:r>
                      <a:rPr lang="en-US" altLang="zh-CN" sz="1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0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+mn-lt"/>
                            <a:ea typeface="+mn-ea"/>
                          </a:rPr>
                          <m:t>esize</m:t>
                        </m:r>
                        <m:r>
                          <a:rPr lang="en-US" altLang="zh-CN" sz="10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 </m:t>
                        </m:r>
                      </m:oMath>
                    </a14:m>
                    <a:endParaRPr lang="en-US" altLang="zh-CN" sz="1000" i="1" baseline="-250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n-lt"/>
                      <a:ea typeface="+mn-ea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59" name="文本框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33"/>
                    </p:custDataLst>
                  </p:nvPr>
                </p:nvSpPr>
                <p:spPr>
                  <a:xfrm>
                    <a:off x="8061" y="3423"/>
                    <a:ext cx="2067" cy="413"/>
                  </a:xfrm>
                  <a:prstGeom prst="rect">
                    <a:avLst/>
                  </a:prstGeom>
                  <a:blipFill rotWithShape="1">
                    <a:blip r:embed="rId3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1" name="直接箭头连接符 60"/>
              <p:cNvCxnSpPr/>
              <p:nvPr>
                <p:custDataLst>
                  <p:tags r:id="rId35"/>
                </p:custDataLst>
              </p:nvPr>
            </p:nvCxnSpPr>
            <p:spPr>
              <a:xfrm>
                <a:off x="9761" y="3756"/>
                <a:ext cx="1020" cy="12"/>
              </a:xfrm>
              <a:prstGeom prst="straightConnector1">
                <a:avLst/>
              </a:prstGeom>
              <a:ln w="15875">
                <a:solidFill>
                  <a:srgbClr val="F5B18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2" name="文本框 61"/>
                  <p:cNvSpPr txBox="1"/>
                  <p:nvPr>
                    <p:custDataLst>
                      <p:tags r:id="rId36"/>
                    </p:custDataLst>
                  </p:nvPr>
                </p:nvSpPr>
                <p:spPr>
                  <a:xfrm>
                    <a:off x="9705" y="3685"/>
                    <a:ext cx="1247" cy="15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0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+mn-lt"/>
                              <a:ea typeface="+mn-ea"/>
                            </a:rPr>
                            <m:t>Flatten</m:t>
                          </m:r>
                          <m:r>
                            <a:rPr lang="en-US" altLang="zh-CN" sz="10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+mn-lt"/>
                              <a:ea typeface="+mn-ea"/>
                            </a:rPr>
                            <m:t> </m:t>
                          </m:r>
                        </m:oMath>
                      </m:oMathPara>
                    </a14:m>
                    <a:endParaRPr lang="en-US" altLang="zh-CN" sz="1400" i="1" baseline="-2500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62" name="文本框 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37"/>
                    </p:custDataLst>
                  </p:nvPr>
                </p:nvSpPr>
                <p:spPr>
                  <a:xfrm>
                    <a:off x="9705" y="3685"/>
                    <a:ext cx="1247" cy="152"/>
                  </a:xfrm>
                  <a:prstGeom prst="rect">
                    <a:avLst/>
                  </a:prstGeom>
                  <a:blipFill rotWithShape="1">
                    <a:blip r:embed="rId3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3" name="肘形连接符 62"/>
              <p:cNvCxnSpPr/>
              <p:nvPr>
                <p:custDataLst>
                  <p:tags r:id="rId39"/>
                </p:custDataLst>
              </p:nvPr>
            </p:nvCxnSpPr>
            <p:spPr>
              <a:xfrm rot="5400000" flipV="1">
                <a:off x="7153" y="5002"/>
                <a:ext cx="1134" cy="681"/>
              </a:xfrm>
              <a:prstGeom prst="bentConnector3">
                <a:avLst>
                  <a:gd name="adj1" fmla="val 100308"/>
                </a:avLst>
              </a:prstGeom>
              <a:ln w="15875">
                <a:solidFill>
                  <a:srgbClr val="F5B18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4" name="直接箭头连接符 63"/>
              <p:cNvCxnSpPr/>
              <p:nvPr>
                <p:custDataLst>
                  <p:tags r:id="rId40"/>
                </p:custDataLst>
              </p:nvPr>
            </p:nvCxnSpPr>
            <p:spPr>
              <a:xfrm>
                <a:off x="8571" y="5936"/>
                <a:ext cx="680" cy="0"/>
              </a:xfrm>
              <a:prstGeom prst="straightConnector1">
                <a:avLst/>
              </a:prstGeom>
              <a:ln w="15875">
                <a:solidFill>
                  <a:srgbClr val="F5B18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5" name="直接箭头连接符 64"/>
              <p:cNvCxnSpPr/>
              <p:nvPr>
                <p:custDataLst>
                  <p:tags r:id="rId41"/>
                </p:custDataLst>
              </p:nvPr>
            </p:nvCxnSpPr>
            <p:spPr>
              <a:xfrm>
                <a:off x="9761" y="5936"/>
                <a:ext cx="397" cy="0"/>
              </a:xfrm>
              <a:prstGeom prst="straightConnector1">
                <a:avLst/>
              </a:prstGeom>
              <a:ln w="15875">
                <a:solidFill>
                  <a:srgbClr val="F5B18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6" name="直接箭头连接符 65"/>
              <p:cNvCxnSpPr/>
              <p:nvPr>
                <p:custDataLst>
                  <p:tags r:id="rId42"/>
                </p:custDataLst>
              </p:nvPr>
            </p:nvCxnSpPr>
            <p:spPr>
              <a:xfrm>
                <a:off x="10612" y="5936"/>
                <a:ext cx="340" cy="0"/>
              </a:xfrm>
              <a:prstGeom prst="straightConnector1">
                <a:avLst/>
              </a:prstGeom>
              <a:ln w="15875">
                <a:solidFill>
                  <a:srgbClr val="F5B18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7" name="文本框 66"/>
                  <p:cNvSpPr txBox="1"/>
                  <p:nvPr>
                    <p:custDataLst>
                      <p:tags r:id="rId43"/>
                    </p:custDataLst>
                  </p:nvPr>
                </p:nvSpPr>
                <p:spPr>
                  <a:xfrm>
                    <a:off x="7154" y="5898"/>
                    <a:ext cx="1247" cy="15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0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+mn-lt"/>
                              <a:ea typeface="+mn-ea"/>
                            </a:rPr>
                            <m:t>ROI</m:t>
                          </m:r>
                          <m:r>
                            <a:rPr lang="en-US" altLang="zh-CN" sz="10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+mn-lt"/>
                              <a:ea typeface="+mn-ea"/>
                            </a:rPr>
                            <m:t> </m:t>
                          </m:r>
                        </m:oMath>
                      </m:oMathPara>
                    </a14:m>
                    <a:endParaRPr lang="en-US" altLang="zh-CN" sz="1400" i="1" baseline="-2500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67" name="文本框 6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44"/>
                    </p:custDataLst>
                  </p:nvPr>
                </p:nvSpPr>
                <p:spPr>
                  <a:xfrm>
                    <a:off x="7154" y="5898"/>
                    <a:ext cx="1247" cy="152"/>
                  </a:xfrm>
                  <a:prstGeom prst="rect">
                    <a:avLst/>
                  </a:prstGeom>
                  <a:blipFill rotWithShape="1">
                    <a:blip r:embed="rId4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8" name="文本框 67"/>
                  <p:cNvSpPr txBox="1"/>
                  <p:nvPr>
                    <p:custDataLst>
                      <p:tags r:id="rId46"/>
                    </p:custDataLst>
                  </p:nvPr>
                </p:nvSpPr>
                <p:spPr>
                  <a:xfrm>
                    <a:off x="8288" y="5898"/>
                    <a:ext cx="1247" cy="15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0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+mn-lt"/>
                              <a:ea typeface="+mn-ea"/>
                            </a:rPr>
                            <m:t>Conv</m:t>
                          </m:r>
                          <m:r>
                            <a:rPr lang="en-US" altLang="zh-CN" sz="10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+mn-lt"/>
                              <a:ea typeface="+mn-ea"/>
                            </a:rPr>
                            <m:t> </m:t>
                          </m:r>
                        </m:oMath>
                      </m:oMathPara>
                    </a14:m>
                    <a:endParaRPr lang="en-US" altLang="zh-CN" sz="1400" i="1" baseline="-2500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68" name="文本框 6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47"/>
                    </p:custDataLst>
                  </p:nvPr>
                </p:nvSpPr>
                <p:spPr>
                  <a:xfrm>
                    <a:off x="8288" y="5898"/>
                    <a:ext cx="1247" cy="152"/>
                  </a:xfrm>
                  <a:prstGeom prst="rect">
                    <a:avLst/>
                  </a:prstGeom>
                  <a:blipFill rotWithShape="1">
                    <a:blip r:embed="rId4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9" name="文本框 68"/>
                  <p:cNvSpPr txBox="1"/>
                  <p:nvPr>
                    <p:custDataLst>
                      <p:tags r:id="rId49"/>
                    </p:custDataLst>
                  </p:nvPr>
                </p:nvSpPr>
                <p:spPr>
                  <a:xfrm>
                    <a:off x="9365" y="5911"/>
                    <a:ext cx="1247" cy="15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0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+mn-lt"/>
                              <a:ea typeface="+mn-ea"/>
                            </a:rPr>
                            <m:t>FC</m:t>
                          </m:r>
                          <m:r>
                            <a:rPr lang="en-US" altLang="zh-CN" sz="10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+mn-lt"/>
                              <a:ea typeface="+mn-ea"/>
                            </a:rPr>
                            <m:t> </m:t>
                          </m:r>
                        </m:oMath>
                      </m:oMathPara>
                    </a14:m>
                    <a:endParaRPr lang="en-US" altLang="zh-CN" sz="1400" i="1" baseline="-2500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69" name="文本框 6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50"/>
                    </p:custDataLst>
                  </p:nvPr>
                </p:nvSpPr>
                <p:spPr>
                  <a:xfrm>
                    <a:off x="9365" y="5911"/>
                    <a:ext cx="1247" cy="152"/>
                  </a:xfrm>
                  <a:prstGeom prst="rect">
                    <a:avLst/>
                  </a:prstGeom>
                  <a:blipFill rotWithShape="1">
                    <a:blip r:embed="rId5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0" name="椭圆 69"/>
              <p:cNvSpPr/>
              <p:nvPr>
                <p:custDataLst>
                  <p:tags r:id="rId52"/>
                </p:custDataLst>
              </p:nvPr>
            </p:nvSpPr>
            <p:spPr>
              <a:xfrm>
                <a:off x="11010" y="5797"/>
                <a:ext cx="340" cy="34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1" name="直接连接符 70"/>
              <p:cNvCxnSpPr>
                <a:stCxn id="70" idx="1"/>
                <a:endCxn id="70" idx="5"/>
              </p:cNvCxnSpPr>
              <p:nvPr>
                <p:custDataLst>
                  <p:tags r:id="rId53"/>
                </p:custDataLst>
              </p:nvPr>
            </p:nvCxnSpPr>
            <p:spPr>
              <a:xfrm>
                <a:off x="11060" y="5847"/>
                <a:ext cx="240" cy="2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>
                <a:stCxn id="70" idx="7"/>
                <a:endCxn id="70" idx="3"/>
              </p:cNvCxnSpPr>
              <p:nvPr>
                <p:custDataLst>
                  <p:tags r:id="rId54"/>
                </p:custDataLst>
              </p:nvPr>
            </p:nvCxnSpPr>
            <p:spPr>
              <a:xfrm flipH="1">
                <a:off x="11060" y="5847"/>
                <a:ext cx="240" cy="2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5" name="直接箭头连接符 74"/>
              <p:cNvCxnSpPr>
                <a:stCxn id="54" idx="3"/>
              </p:cNvCxnSpPr>
              <p:nvPr>
                <p:custDataLst>
                  <p:tags r:id="rId55"/>
                </p:custDataLst>
              </p:nvPr>
            </p:nvCxnSpPr>
            <p:spPr>
              <a:xfrm flipH="1">
                <a:off x="11180" y="4309"/>
                <a:ext cx="8" cy="1417"/>
              </a:xfrm>
              <a:prstGeom prst="straightConnector1">
                <a:avLst/>
              </a:prstGeom>
              <a:ln w="15875">
                <a:solidFill>
                  <a:srgbClr val="F5B18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7" name="椭圆 76"/>
              <p:cNvSpPr/>
              <p:nvPr>
                <p:custDataLst>
                  <p:tags r:id="rId56"/>
                </p:custDataLst>
              </p:nvPr>
            </p:nvSpPr>
            <p:spPr>
              <a:xfrm>
                <a:off x="11980" y="4773"/>
                <a:ext cx="340" cy="34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8" name="直接连接符 77"/>
              <p:cNvCxnSpPr>
                <a:stCxn id="77" idx="1"/>
                <a:endCxn id="77" idx="5"/>
              </p:cNvCxnSpPr>
              <p:nvPr>
                <p:custDataLst>
                  <p:tags r:id="rId57"/>
                </p:custDataLst>
              </p:nvPr>
            </p:nvCxnSpPr>
            <p:spPr>
              <a:xfrm>
                <a:off x="12030" y="4823"/>
                <a:ext cx="240" cy="2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>
                <a:stCxn id="77" idx="7"/>
                <a:endCxn id="77" idx="3"/>
              </p:cNvCxnSpPr>
              <p:nvPr>
                <p:custDataLst>
                  <p:tags r:id="rId58"/>
                </p:custDataLst>
              </p:nvPr>
            </p:nvCxnSpPr>
            <p:spPr>
              <a:xfrm flipH="1">
                <a:off x="12030" y="4823"/>
                <a:ext cx="240" cy="2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0" name="肘形连接符 79"/>
              <p:cNvCxnSpPr/>
              <p:nvPr>
                <p:custDataLst>
                  <p:tags r:id="rId59"/>
                </p:custDataLst>
              </p:nvPr>
            </p:nvCxnSpPr>
            <p:spPr>
              <a:xfrm flipV="1">
                <a:off x="11350" y="5113"/>
                <a:ext cx="800" cy="854"/>
              </a:xfrm>
              <a:prstGeom prst="bentConnector2">
                <a:avLst/>
              </a:prstGeom>
              <a:ln w="15875">
                <a:solidFill>
                  <a:srgbClr val="F5B18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1" name="肘形连接符 80"/>
              <p:cNvCxnSpPr/>
              <p:nvPr>
                <p:custDataLst>
                  <p:tags r:id="rId60"/>
                </p:custDataLst>
              </p:nvPr>
            </p:nvCxnSpPr>
            <p:spPr>
              <a:xfrm rot="5400000" flipV="1">
                <a:off x="11386" y="3947"/>
                <a:ext cx="949" cy="566"/>
              </a:xfrm>
              <a:prstGeom prst="bentConnector3">
                <a:avLst>
                  <a:gd name="adj1" fmla="val -1527"/>
                </a:avLst>
              </a:prstGeom>
              <a:ln w="15875">
                <a:solidFill>
                  <a:srgbClr val="F5B18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82" name="立方体 81"/>
              <p:cNvSpPr/>
              <p:nvPr>
                <p:custDataLst>
                  <p:tags r:id="rId61"/>
                </p:custDataLst>
              </p:nvPr>
            </p:nvSpPr>
            <p:spPr>
              <a:xfrm>
                <a:off x="12937" y="4538"/>
                <a:ext cx="340" cy="799"/>
              </a:xfrm>
              <a:prstGeom prst="cube">
                <a:avLst/>
              </a:prstGeom>
              <a:solidFill>
                <a:srgbClr val="92D050"/>
              </a:solidFill>
              <a:ln>
                <a:solidFill>
                  <a:schemeClr val="tx1">
                    <a:alpha val="41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3" name="肘形连接符 82"/>
              <p:cNvCxnSpPr>
                <a:endCxn id="82" idx="3"/>
              </p:cNvCxnSpPr>
              <p:nvPr>
                <p:custDataLst>
                  <p:tags r:id="rId62"/>
                </p:custDataLst>
              </p:nvPr>
            </p:nvCxnSpPr>
            <p:spPr>
              <a:xfrm flipV="1">
                <a:off x="10442" y="5337"/>
                <a:ext cx="2623" cy="1254"/>
              </a:xfrm>
              <a:prstGeom prst="bentConnector2">
                <a:avLst/>
              </a:prstGeom>
              <a:ln w="15875">
                <a:solidFill>
                  <a:srgbClr val="F5B183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5" name="文本框 84"/>
                  <p:cNvSpPr txBox="1"/>
                  <p:nvPr>
                    <p:custDataLst>
                      <p:tags r:id="rId63"/>
                    </p:custDataLst>
                  </p:nvPr>
                </p:nvSpPr>
                <p:spPr>
                  <a:xfrm>
                    <a:off x="11463" y="6520"/>
                    <a:ext cx="1247" cy="12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0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+mn-lt"/>
                              <a:ea typeface="+mn-ea"/>
                            </a:rPr>
                            <m:t>Identity</m:t>
                          </m:r>
                        </m:oMath>
                      </m:oMathPara>
                    </a14:m>
                    <a:endParaRPr lang="en-US" altLang="zh-CN" sz="1400" i="1" baseline="-2500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85" name="文本框 8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64"/>
                    </p:custDataLst>
                  </p:nvPr>
                </p:nvSpPr>
                <p:spPr>
                  <a:xfrm>
                    <a:off x="11463" y="6520"/>
                    <a:ext cx="1247" cy="120"/>
                  </a:xfrm>
                  <a:prstGeom prst="rect">
                    <a:avLst/>
                  </a:prstGeom>
                  <a:blipFill rotWithShape="1">
                    <a:blip r:embed="rId6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6" name="直接连接符 85"/>
              <p:cNvCxnSpPr/>
              <p:nvPr>
                <p:custDataLst>
                  <p:tags r:id="rId66"/>
                </p:custDataLst>
              </p:nvPr>
            </p:nvCxnSpPr>
            <p:spPr>
              <a:xfrm flipV="1">
                <a:off x="5810" y="3074"/>
                <a:ext cx="907" cy="1247"/>
              </a:xfrm>
              <a:prstGeom prst="line">
                <a:avLst/>
              </a:prstGeom>
              <a:noFill/>
              <a:ln w="19050">
                <a:solidFill>
                  <a:srgbClr val="FFC514"/>
                </a:solidFill>
                <a:prstDash val="sys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</p:cxnSp>
          <p:cxnSp>
            <p:nvCxnSpPr>
              <p:cNvPr id="87" name="直接连接符 86"/>
              <p:cNvCxnSpPr/>
              <p:nvPr>
                <p:custDataLst>
                  <p:tags r:id="rId67"/>
                </p:custDataLst>
              </p:nvPr>
            </p:nvCxnSpPr>
            <p:spPr>
              <a:xfrm>
                <a:off x="5810" y="4888"/>
                <a:ext cx="1020" cy="1814"/>
              </a:xfrm>
              <a:prstGeom prst="line">
                <a:avLst/>
              </a:prstGeom>
              <a:noFill/>
              <a:ln w="19050">
                <a:solidFill>
                  <a:srgbClr val="FFC514"/>
                </a:solidFill>
                <a:prstDash val="sys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</p:cxnSp>
          <p:cxnSp>
            <p:nvCxnSpPr>
              <p:cNvPr id="94" name="肘形连接符 93"/>
              <p:cNvCxnSpPr/>
              <p:nvPr/>
            </p:nvCxnSpPr>
            <p:spPr>
              <a:xfrm flipV="1">
                <a:off x="13437" y="4553"/>
                <a:ext cx="1474" cy="428"/>
              </a:xfrm>
              <a:prstGeom prst="bentConnector3">
                <a:avLst>
                  <a:gd name="adj1" fmla="val 61872"/>
                </a:avLst>
              </a:prstGeom>
              <a:ln>
                <a:solidFill>
                  <a:srgbClr val="FFC514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9" name="肘形连接符 98"/>
              <p:cNvCxnSpPr/>
              <p:nvPr/>
            </p:nvCxnSpPr>
            <p:spPr>
              <a:xfrm>
                <a:off x="13437" y="4981"/>
                <a:ext cx="1474" cy="479"/>
              </a:xfrm>
              <a:prstGeom prst="bentConnector3">
                <a:avLst>
                  <a:gd name="adj1" fmla="val 61668"/>
                </a:avLst>
              </a:prstGeom>
              <a:ln>
                <a:solidFill>
                  <a:srgbClr val="FFC514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0" name="文本框 99"/>
                  <p:cNvSpPr txBox="1"/>
                  <p:nvPr>
                    <p:custDataLst>
                      <p:tags r:id="rId68"/>
                    </p:custDataLst>
                  </p:nvPr>
                </p:nvSpPr>
                <p:spPr>
                  <a:xfrm>
                    <a:off x="14117" y="4951"/>
                    <a:ext cx="1085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lang="en-US" altLang="zh-CN" sz="1400" i="1" baseline="-2500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oMath>
                      </m:oMathPara>
                    </a14:m>
                    <a:endParaRPr lang="en-US" altLang="zh-CN" sz="1400" i="1" baseline="-25000">
                      <a:latin typeface="Cambria Math" panose="02040503050406030204" charset="0"/>
                      <a:ea typeface="MS Mincho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00" name="文本框 9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69"/>
                    </p:custDataLst>
                  </p:nvPr>
                </p:nvSpPr>
                <p:spPr>
                  <a:xfrm>
                    <a:off x="14117" y="4951"/>
                    <a:ext cx="1085" cy="483"/>
                  </a:xfrm>
                  <a:prstGeom prst="rect">
                    <a:avLst/>
                  </a:prstGeom>
                  <a:blipFill rotWithShape="1">
                    <a:blip r:embed="rId7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1" name="矩形 100"/>
              <p:cNvSpPr/>
              <p:nvPr/>
            </p:nvSpPr>
            <p:spPr>
              <a:xfrm>
                <a:off x="14911" y="4380"/>
                <a:ext cx="1464" cy="36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20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Focal loss</a:t>
                </a:r>
                <a:endPara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02" name="矩形 101"/>
              <p:cNvSpPr/>
              <p:nvPr/>
            </p:nvSpPr>
            <p:spPr>
              <a:xfrm>
                <a:off x="14911" y="5273"/>
                <a:ext cx="1678" cy="36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20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Line loUloss</a:t>
                </a:r>
                <a:endPara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-7019" y="7532"/>
              <a:ext cx="8164" cy="609"/>
            </a:xfrm>
            <a:prstGeom prst="rect">
              <a:avLst/>
            </a:prstGeom>
            <a:solidFill>
              <a:srgbClr val="F5B1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(a) Refinement</a:t>
              </a:r>
              <a:endParaRPr lang="en-US" altLang="zh-CN"/>
            </a:p>
          </p:txBody>
        </p:sp>
        <p:sp>
          <p:nvSpPr>
            <p:cNvPr id="11" name="矩形 10"/>
            <p:cNvSpPr/>
            <p:nvPr/>
          </p:nvSpPr>
          <p:spPr>
            <a:xfrm>
              <a:off x="1145" y="7531"/>
              <a:ext cx="10645" cy="609"/>
            </a:xfrm>
            <a:prstGeom prst="rect">
              <a:avLst/>
            </a:prstGeom>
            <a:solidFill>
              <a:srgbClr val="F5B1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(b) RolGather</a:t>
              </a:r>
              <a:endParaRPr lang="en-US" altLang="zh-CN"/>
            </a:p>
          </p:txBody>
        </p:sp>
        <p:sp>
          <p:nvSpPr>
            <p:cNvPr id="14" name="矩形 13"/>
            <p:cNvSpPr/>
            <p:nvPr/>
          </p:nvSpPr>
          <p:spPr>
            <a:xfrm>
              <a:off x="11790" y="7532"/>
              <a:ext cx="3175" cy="609"/>
            </a:xfrm>
            <a:prstGeom prst="rect">
              <a:avLst/>
            </a:prstGeom>
            <a:solidFill>
              <a:srgbClr val="F5B1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(c) Loss</a:t>
              </a:r>
              <a:endParaRPr lang="en-US" altLang="zh-CN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1145" y="884"/>
              <a:ext cx="0" cy="7257"/>
            </a:xfrm>
            <a:prstGeom prst="line">
              <a:avLst/>
            </a:prstGeom>
            <a:ln w="6350">
              <a:solidFill>
                <a:srgbClr val="0070C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11790" y="881"/>
              <a:ext cx="0" cy="7257"/>
            </a:xfrm>
            <a:prstGeom prst="line">
              <a:avLst/>
            </a:prstGeom>
            <a:ln w="6350">
              <a:solidFill>
                <a:srgbClr val="E6AD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5" name="组合 54"/>
          <p:cNvGrpSpPr>
            <a:grpSpLocks noChangeAspect="1"/>
          </p:cNvGrpSpPr>
          <p:nvPr/>
        </p:nvGrpSpPr>
        <p:grpSpPr>
          <a:xfrm>
            <a:off x="635635" y="-2691765"/>
            <a:ext cx="7682865" cy="11174095"/>
            <a:chOff x="1001" y="-4239"/>
            <a:chExt cx="12099" cy="17597"/>
          </a:xfrm>
        </p:grpSpPr>
        <p:sp>
          <p:nvSpPr>
            <p:cNvPr id="51" name="圆角矩形 50"/>
            <p:cNvSpPr/>
            <p:nvPr/>
          </p:nvSpPr>
          <p:spPr>
            <a:xfrm>
              <a:off x="3459" y="4947"/>
              <a:ext cx="9525" cy="2608"/>
            </a:xfrm>
            <a:prstGeom prst="roundRect">
              <a:avLst>
                <a:gd name="adj" fmla="val 8397"/>
              </a:avLst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/>
            </a:p>
          </p:txBody>
        </p:sp>
        <p:sp>
          <p:nvSpPr>
            <p:cNvPr id="47" name="矩形 46"/>
            <p:cNvSpPr/>
            <p:nvPr/>
          </p:nvSpPr>
          <p:spPr>
            <a:xfrm>
              <a:off x="9936" y="5464"/>
              <a:ext cx="2946" cy="1880"/>
            </a:xfrm>
            <a:prstGeom prst="rect">
              <a:avLst/>
            </a:prstGeom>
            <a:solidFill>
              <a:srgbClr val="F1F1F1"/>
            </a:solidFill>
            <a:ln>
              <a:solidFill>
                <a:srgbClr val="F1F1F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endParaRPr lang="en-US" altLang="zh-CN" b="1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文本框 47"/>
                <p:cNvSpPr txBox="1"/>
                <p:nvPr/>
              </p:nvSpPr>
              <p:spPr>
                <a:xfrm>
                  <a:off x="9935" y="6230"/>
                  <a:ext cx="2914" cy="11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zh-CN" altLang="en-US" sz="1400" b="1"/>
                    <a:t>融合两个核心分支输出</a:t>
                  </a:r>
                  <a14:m>
                    <m:oMath xmlns:m="http://schemas.openxmlformats.org/officeDocument/2006/math">
                      <m:r>
                        <a:rPr lang="en-US" altLang="zh-CN" sz="1200" b="1">
                          <a:latin typeface="Cambria Math" panose="02040503050406030204" charset="0"/>
                          <a:cs typeface="Cambria Math" panose="02040503050406030204" charset="0"/>
                        </a:rPr>
                        <m:t>𝐗</m:t>
                      </m:r>
                      <m:r>
                        <a:rPr lang="en-US" altLang="zh-CN" sz="1200" b="1">
                          <a:latin typeface="Cambria Math" panose="02040503050406030204" charset="0"/>
                          <a:cs typeface="Cambria Math" panose="02040503050406030204" charset="0"/>
                        </a:rPr>
                        <m:t> ̃ = </m:t>
                      </m:r>
                      <m:r>
                        <a:rPr lang="en-US" altLang="zh-CN" sz="1200" b="1">
                          <a:latin typeface="Cambria Math" panose="02040503050406030204" charset="0"/>
                          <a:cs typeface="Cambria Math" panose="02040503050406030204" charset="0"/>
                        </a:rPr>
                        <m:t>𝐗</m:t>
                      </m:r>
                      <m:r>
                        <a:rPr lang="en-US" altLang="zh-CN" sz="1200" b="1">
                          <a:latin typeface="Cambria Math" panose="02040503050406030204" charset="0"/>
                          <a:cs typeface="Cambria Math" panose="02040503050406030204" charset="0"/>
                        </a:rPr>
                        <m:t> +</m:t>
                      </m:r>
                      <m:r>
                        <a:rPr lang="en-US" altLang="zh-CN" sz="1200" b="1">
                          <a:latin typeface="Cambria Math" panose="02040503050406030204" charset="0"/>
                          <a:cs typeface="Cambria Math" panose="02040503050406030204" charset="0"/>
                        </a:rPr>
                        <m:t>𝛌</m:t>
                      </m:r>
                      <m:r>
                        <a:rPr lang="en-US" altLang="zh-CN" sz="1200" b="1">
                          <a:latin typeface="Cambria Math" panose="02040503050406030204" charset="0"/>
                          <a:cs typeface="Cambria Math" panose="02040503050406030204" charset="0"/>
                        </a:rPr>
                        <m:t> ( </m:t>
                      </m:r>
                      <m:r>
                        <a:rPr lang="en-US" altLang="zh-CN" sz="1200" b="1">
                          <a:latin typeface="Cambria Math" panose="02040503050406030204" charset="0"/>
                          <a:cs typeface="Cambria Math" panose="02040503050406030204" charset="0"/>
                        </a:rPr>
                        <m:t>𝐗</m:t>
                      </m:r>
                      <m:r>
                        <a:rPr lang="en-US" altLang="zh-CN" sz="1200" b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sz="1200" b="1">
                          <a:latin typeface="Cambria Math" panose="02040503050406030204" charset="0"/>
                          <a:cs typeface="Cambria Math" panose="02040503050406030204" charset="0"/>
                        </a:rPr>
                        <m:t>𝐟𝐫𝐞𝐪</m:t>
                      </m:r>
                      <m:r>
                        <a:rPr lang="en-US" altLang="zh-CN" sz="1200" b="1">
                          <a:latin typeface="Cambria Math" panose="02040503050406030204" charset="0"/>
                          <a:cs typeface="Cambria Math" panose="02040503050406030204" charset="0"/>
                        </a:rPr>
                        <m:t> + </m:t>
                      </m:r>
                      <m:r>
                        <a:rPr lang="en-US" altLang="zh-CN" sz="1200" b="1">
                          <a:latin typeface="Cambria Math" panose="02040503050406030204" charset="0"/>
                          <a:cs typeface="Cambria Math" panose="02040503050406030204" charset="0"/>
                        </a:rPr>
                        <m:t>𝐗</m:t>
                      </m:r>
                      <m:r>
                        <a:rPr lang="en-US" altLang="zh-CN" sz="1200" b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sz="1200" b="1">
                          <a:latin typeface="Cambria Math" panose="02040503050406030204" charset="0"/>
                          <a:cs typeface="Cambria Math" panose="02040503050406030204" charset="0"/>
                        </a:rPr>
                        <m:t>𝐝𝐢𝐫</m:t>
                      </m:r>
                      <m:r>
                        <a:rPr lang="en-US" altLang="zh-CN" sz="1200" b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)</m:t>
                      </m:r>
                    </m:oMath>
                  </a14:m>
                  <a:endParaRPr lang="en-US" altLang="zh-CN" sz="1200" b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48" name="文本框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5" y="6230"/>
                  <a:ext cx="2914" cy="1113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矩形 48"/>
            <p:cNvSpPr/>
            <p:nvPr/>
          </p:nvSpPr>
          <p:spPr>
            <a:xfrm>
              <a:off x="6728" y="5438"/>
              <a:ext cx="3051" cy="1880"/>
            </a:xfrm>
            <a:prstGeom prst="rect">
              <a:avLst/>
            </a:prstGeom>
            <a:solidFill>
              <a:srgbClr val="F1F1F1"/>
            </a:solidFill>
            <a:ln>
              <a:solidFill>
                <a:srgbClr val="F1F1F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endParaRPr lang="en-US" altLang="zh-CN" b="1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6956" y="6342"/>
              <a:ext cx="291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/>
                <a:t>增强车道线的方向连续性</a:t>
              </a:r>
              <a:endParaRPr lang="zh-CN" altLang="en-US" sz="1400" b="1"/>
            </a:p>
          </p:txBody>
        </p:sp>
        <p:sp>
          <p:nvSpPr>
            <p:cNvPr id="45" name="矩形 44"/>
            <p:cNvSpPr/>
            <p:nvPr/>
          </p:nvSpPr>
          <p:spPr>
            <a:xfrm>
              <a:off x="3653" y="5438"/>
              <a:ext cx="2949" cy="1880"/>
            </a:xfrm>
            <a:prstGeom prst="rect">
              <a:avLst/>
            </a:prstGeom>
            <a:solidFill>
              <a:srgbClr val="F1F1F1"/>
            </a:solidFill>
            <a:ln>
              <a:solidFill>
                <a:srgbClr val="F1F1F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just"/>
              <a:endParaRPr lang="en-US" altLang="zh-CN" b="1"/>
            </a:p>
          </p:txBody>
        </p:sp>
        <p:sp>
          <p:nvSpPr>
            <p:cNvPr id="8" name="矩形 7"/>
            <p:cNvSpPr/>
            <p:nvPr/>
          </p:nvSpPr>
          <p:spPr>
            <a:xfrm>
              <a:off x="3348" y="-4011"/>
              <a:ext cx="9522" cy="681"/>
            </a:xfrm>
            <a:prstGeom prst="rect">
              <a:avLst/>
            </a:prstGeom>
            <a:solidFill>
              <a:srgbClr val="0943AF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第一章</a:t>
              </a:r>
              <a:r>
                <a:rPr lang="en-US" altLang="zh-CN" sz="1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lang="zh-CN" altLang="en-US" sz="1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绪论</a:t>
              </a:r>
              <a:endPara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3344" y="-3103"/>
              <a:ext cx="3098" cy="680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选题背景与意义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6600" y="-3103"/>
              <a:ext cx="3018" cy="680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国内外研究现状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9776" y="-3103"/>
              <a:ext cx="3071" cy="680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国内外研究现状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3116" y="-4237"/>
              <a:ext cx="9984" cy="2041"/>
            </a:xfrm>
            <a:prstGeom prst="rect">
              <a:avLst/>
            </a:prstGeom>
            <a:noFill/>
            <a:ln w="28575" cmpd="sng">
              <a:solidFill>
                <a:srgbClr val="1E5DBB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3" name="下箭头 12"/>
            <p:cNvSpPr/>
            <p:nvPr/>
          </p:nvSpPr>
          <p:spPr>
            <a:xfrm>
              <a:off x="7528" y="-2196"/>
              <a:ext cx="1160" cy="680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348" y="-1289"/>
              <a:ext cx="9522" cy="681"/>
            </a:xfrm>
            <a:prstGeom prst="rect">
              <a:avLst/>
            </a:prstGeom>
            <a:solidFill>
              <a:srgbClr val="0943AF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第二章 相关理论与技术基础</a:t>
              </a:r>
              <a:endPara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3350" y="-381"/>
              <a:ext cx="3092" cy="680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车道线检测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6600" y="-381"/>
              <a:ext cx="3018" cy="680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雨天图像增强技术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9776" y="-381"/>
              <a:ext cx="3073" cy="680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轻量化与边缘端部署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116" y="-1515"/>
              <a:ext cx="9984" cy="2041"/>
            </a:xfrm>
            <a:prstGeom prst="rect">
              <a:avLst/>
            </a:prstGeom>
            <a:noFill/>
            <a:ln w="28575" cmpd="sng">
              <a:solidFill>
                <a:srgbClr val="1E5DBB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9" name="下箭头 18"/>
            <p:cNvSpPr/>
            <p:nvPr/>
          </p:nvSpPr>
          <p:spPr>
            <a:xfrm>
              <a:off x="7528" y="525"/>
              <a:ext cx="1160" cy="680"/>
            </a:xfrm>
            <a:prstGeom prst="downArrow">
              <a:avLst/>
            </a:prstGeom>
            <a:solidFill>
              <a:srgbClr val="1E5DBB"/>
            </a:solidFill>
            <a:ln>
              <a:solidFill>
                <a:srgbClr val="1E5DB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348" y="1432"/>
              <a:ext cx="9522" cy="681"/>
            </a:xfrm>
            <a:prstGeom prst="rect">
              <a:avLst/>
            </a:prstGeom>
            <a:solidFill>
              <a:srgbClr val="0943AF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第三章 雨天车道线数据集构建与增强</a:t>
              </a:r>
              <a:endPara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3350" y="2340"/>
              <a:ext cx="3067" cy="680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RainLane</a:t>
              </a:r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数据集构建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8424" y="2339"/>
              <a:ext cx="2124" cy="680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退化因素分析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10707" y="2340"/>
              <a:ext cx="2162" cy="680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数据增强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116" y="1206"/>
              <a:ext cx="9984" cy="2041"/>
            </a:xfrm>
            <a:prstGeom prst="rect">
              <a:avLst/>
            </a:prstGeom>
            <a:noFill/>
            <a:ln w="28575" cmpd="sng">
              <a:solidFill>
                <a:srgbClr val="1E5DBB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5" name="下箭头 24"/>
            <p:cNvSpPr/>
            <p:nvPr/>
          </p:nvSpPr>
          <p:spPr>
            <a:xfrm>
              <a:off x="7541" y="3246"/>
              <a:ext cx="1134" cy="680"/>
            </a:xfrm>
            <a:prstGeom prst="downArrow">
              <a:avLst/>
            </a:prstGeom>
            <a:solidFill>
              <a:srgbClr val="1E5DBB"/>
            </a:solidFill>
            <a:ln>
              <a:solidFill>
                <a:srgbClr val="1E5DB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458" y="4153"/>
              <a:ext cx="9526" cy="681"/>
            </a:xfrm>
            <a:prstGeom prst="rect">
              <a:avLst/>
            </a:prstGeom>
            <a:solidFill>
              <a:srgbClr val="0943AF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第四章 面向雨天的车道线检测算法设计</a:t>
              </a:r>
              <a:endPara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3768" y="5550"/>
              <a:ext cx="2718" cy="680"/>
            </a:xfrm>
            <a:prstGeom prst="roundRect">
              <a:avLst/>
            </a:prstGeom>
            <a:solidFill>
              <a:srgbClr val="DAEDFD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频率门控分支设计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6798" y="5550"/>
              <a:ext cx="2907" cy="680"/>
            </a:xfrm>
            <a:prstGeom prst="roundRect">
              <a:avLst/>
            </a:prstGeom>
            <a:solidFill>
              <a:srgbClr val="DAEDFD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方向注意力分支设计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10064" y="5550"/>
              <a:ext cx="2591" cy="680"/>
            </a:xfrm>
            <a:prstGeom prst="roundRect">
              <a:avLst/>
            </a:prstGeom>
            <a:solidFill>
              <a:srgbClr val="DAEDFD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残差融合输出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2" y="3927"/>
              <a:ext cx="9867" cy="3760"/>
            </a:xfrm>
            <a:prstGeom prst="rect">
              <a:avLst/>
            </a:prstGeom>
            <a:noFill/>
            <a:ln w="28575" cmpd="sng">
              <a:solidFill>
                <a:srgbClr val="1E5DBB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1" name="下箭头 30"/>
            <p:cNvSpPr/>
            <p:nvPr/>
          </p:nvSpPr>
          <p:spPr>
            <a:xfrm>
              <a:off x="7553" y="7687"/>
              <a:ext cx="1134" cy="680"/>
            </a:xfrm>
            <a:prstGeom prst="downArrow">
              <a:avLst/>
            </a:prstGeom>
            <a:solidFill>
              <a:srgbClr val="1E5DBB"/>
            </a:solidFill>
            <a:ln>
              <a:solidFill>
                <a:srgbClr val="1E5DB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3349" y="8688"/>
              <a:ext cx="9520" cy="681"/>
            </a:xfrm>
            <a:prstGeom prst="rect">
              <a:avLst/>
            </a:prstGeom>
            <a:solidFill>
              <a:srgbClr val="0943AF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第五章 模型部署与实验验证</a:t>
              </a:r>
              <a:endPara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3345" y="9596"/>
              <a:ext cx="3016" cy="680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模型转换与优化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6520" y="9596"/>
              <a:ext cx="2178" cy="680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对比实验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8869" y="9596"/>
              <a:ext cx="1844" cy="680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消融实验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3117" y="8462"/>
              <a:ext cx="9982" cy="2041"/>
            </a:xfrm>
            <a:prstGeom prst="rect">
              <a:avLst/>
            </a:prstGeom>
            <a:noFill/>
            <a:ln w="28575" cmpd="sng">
              <a:solidFill>
                <a:srgbClr val="1E5DBB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7" name="下箭头 36"/>
            <p:cNvSpPr/>
            <p:nvPr/>
          </p:nvSpPr>
          <p:spPr>
            <a:xfrm>
              <a:off x="7528" y="10501"/>
              <a:ext cx="1160" cy="680"/>
            </a:xfrm>
            <a:prstGeom prst="downArrow">
              <a:avLst/>
            </a:prstGeom>
            <a:solidFill>
              <a:srgbClr val="1E5DBB"/>
            </a:solidFill>
            <a:ln>
              <a:solidFill>
                <a:srgbClr val="1E5DB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3349" y="11408"/>
              <a:ext cx="9520" cy="681"/>
            </a:xfrm>
            <a:prstGeom prst="rect">
              <a:avLst/>
            </a:prstGeom>
            <a:solidFill>
              <a:srgbClr val="0943AF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第六章 总结与展望</a:t>
              </a:r>
              <a:endPara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39" name="圆角矩形 38"/>
            <p:cNvSpPr/>
            <p:nvPr/>
          </p:nvSpPr>
          <p:spPr>
            <a:xfrm>
              <a:off x="3345" y="12318"/>
              <a:ext cx="3016" cy="680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成果总结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6601" y="12316"/>
              <a:ext cx="3016" cy="680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创新点总结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9779" y="12316"/>
              <a:ext cx="3069" cy="680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未来工作展望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3117" y="11182"/>
              <a:ext cx="9982" cy="2041"/>
            </a:xfrm>
            <a:prstGeom prst="rect">
              <a:avLst/>
            </a:prstGeom>
            <a:noFill/>
            <a:ln w="28575" cmpd="sng">
              <a:solidFill>
                <a:srgbClr val="1E5DBB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6543" y="2342"/>
              <a:ext cx="1724" cy="680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标注规范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729" y="4933"/>
              <a:ext cx="307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 b="1"/>
                <a:t>抗干扰模块设计</a:t>
              </a:r>
              <a:endParaRPr lang="zh-CN" altLang="en-US" sz="1600" b="1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766" y="6341"/>
              <a:ext cx="291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/>
                <a:t>抑制雨纹、反光伪边缘等高频噪声分量</a:t>
              </a:r>
              <a:endParaRPr lang="zh-CN" altLang="en-US" sz="1400" b="1"/>
            </a:p>
          </p:txBody>
        </p:sp>
        <p:sp>
          <p:nvSpPr>
            <p:cNvPr id="52" name="圆角矩形 51"/>
            <p:cNvSpPr/>
            <p:nvPr/>
          </p:nvSpPr>
          <p:spPr>
            <a:xfrm>
              <a:off x="10942" y="9596"/>
              <a:ext cx="1984" cy="680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部署测试</a:t>
              </a:r>
              <a:endParaRPr lang="zh-CN" altLang="en-US"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53" name="左大括号 52"/>
            <p:cNvSpPr/>
            <p:nvPr/>
          </p:nvSpPr>
          <p:spPr>
            <a:xfrm>
              <a:off x="2092" y="-4239"/>
              <a:ext cx="725" cy="17461"/>
            </a:xfrm>
            <a:prstGeom prst="leftBrace">
              <a:avLst/>
            </a:prstGeom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001" y="-4238"/>
              <a:ext cx="869" cy="1759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pPr algn="ctr"/>
              <a:r>
                <a:rPr lang="zh-CN" altLang="en-US" sz="2400" b="1"/>
                <a:t>面向高级驾驶辅助系统的雨天条件下车道线鲁棒检测方法研究</a:t>
              </a:r>
              <a:endParaRPr lang="zh-CN" altLang="en-US" sz="2400" b="1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2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3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4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5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6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7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8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9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10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11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12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13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14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15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16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17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18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19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20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21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22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23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24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25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26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27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28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29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30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31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32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33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34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35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36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37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38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39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40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41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42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43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44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45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46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47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48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49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50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51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52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53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54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55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56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57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58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59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60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61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62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63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64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65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66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67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68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69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70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71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72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73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74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75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76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77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78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79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80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81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82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83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84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85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86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87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88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89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90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91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92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93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94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95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96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97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98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99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100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101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102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103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104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105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106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107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108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109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110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111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112.xml><?xml version="1.0" encoding="utf-8"?>
<p:tagLst xmlns:p="http://schemas.openxmlformats.org/presentationml/2006/main">
  <p:tag name="KSO_WM_DIAGRAM_VIRTUALLY_FRAME" val="{&quot;height&quot;:363.85,&quot;left&quot;:-350.95,&quot;top&quot;:43.2,&quot;width&quot;:1099.2}"/>
</p:tagLst>
</file>

<file path=ppt/tags/tag113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ags/tag114.xml><?xml version="1.0" encoding="utf-8"?>
<p:tagLst xmlns:p="http://schemas.openxmlformats.org/presentationml/2006/main">
  <p:tag name="KSO_WM_DIAGRAM_VIRTUALLY_FRAME" val="{&quot;height&quot;:229.03818969726564,&quot;left&quot;:331.675,&quot;top&quot;:25.511810302734375,&quot;width&quot;:278.875}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705</Words>
  <Application>WPS 演示</Application>
  <PresentationFormat/>
  <Paragraphs>166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8" baseType="lpstr">
      <vt:lpstr>Arial</vt:lpstr>
      <vt:lpstr>宋体</vt:lpstr>
      <vt:lpstr>Wingdings</vt:lpstr>
      <vt:lpstr>Cambria Math</vt:lpstr>
      <vt:lpstr>MS Mincho</vt:lpstr>
      <vt:lpstr>AMGDT</vt:lpstr>
      <vt:lpstr>微软雅黑</vt:lpstr>
      <vt:lpstr>Arial Unicode MS</vt:lpstr>
      <vt:lpstr>Calibri</vt:lpstr>
      <vt:lpstr>Ms.Luce</vt:lpstr>
      <vt:lpstr>monospace</vt:lpstr>
      <vt:lpstr>黑体</vt:lpstr>
      <vt:lpstr>BatangChe</vt:lpstr>
      <vt:lpstr>MS PGothic</vt:lpstr>
      <vt:lpstr>默认设计模板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李海志</dc:creator>
  <cp:lastModifiedBy>86178</cp:lastModifiedBy>
  <cp:revision>6</cp:revision>
  <dcterms:created xsi:type="dcterms:W3CDTF">2026-04-19T06:52:00Z</dcterms:created>
  <dcterms:modified xsi:type="dcterms:W3CDTF">2026-04-20T10:40:32Z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0B9DFAB4DA7A4C8CBDA76B4C67E9A162_12</vt:lpwstr>
  </property>
</Properties>
</file>